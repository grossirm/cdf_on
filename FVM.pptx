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0" r:id="rId2"/>
    <p:sldId id="264" r:id="rId3"/>
    <p:sldId id="265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7E8FF"/>
    <a:srgbClr val="000000"/>
    <a:srgbClr val="0000FF"/>
    <a:srgbClr val="B7B7FF"/>
    <a:srgbClr val="FBE5D6"/>
    <a:srgbClr val="00F8F2"/>
    <a:srgbClr val="C1E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6532" autoAdjust="0"/>
  </p:normalViewPr>
  <p:slideViewPr>
    <p:cSldViewPr snapToGrid="0">
      <p:cViewPr varScale="1">
        <p:scale>
          <a:sx n="112" d="100"/>
          <a:sy n="112" d="100"/>
        </p:scale>
        <p:origin x="11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AEFC5-E215-4F6A-919E-77DE2175702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2B40A-C99B-4123-9E10-3052575DA6B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9599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7765-CCF9-BC17-048B-D84103E20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E7CCA-D35A-9A18-C8F2-5C42408AA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DB01B-CA9C-BC65-6293-9E7349E2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130B6-3C64-1CA5-0867-BB1A630E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00D51-C202-BE77-CC45-C606F903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7635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0E0A-7661-E749-149D-A514F9EE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676C2-0D5F-9D75-DE17-B037CD058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57719-5A87-A6DA-B2BB-E2CD185A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B40F-2434-744B-9870-A14BA547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56EDA-92FB-A4E0-8122-B34C429D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962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8811A-C440-1525-B321-E533C241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63F8C-F182-E479-7455-017E9AAE5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72869-DFA4-54BF-091B-F79C691A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83714-D03E-BFF8-ABE2-697CC6FDE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C088C-3418-B36E-3BA2-B8195729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6880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94F2F-4D0B-9C6E-EF03-E4B9B20C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0F276-146E-FF04-BF62-A8A056729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EDC5B-8E09-3D5E-8EDC-ABCD76C3B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14EA9-587D-BBB9-BC0E-BCC28B9AC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A3F16-24E8-1AAF-8BE7-73899CD15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983B4-5478-9952-8879-FA2CC5BC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933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06C7-EBA8-92A6-F95A-91C86830E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4AB5F-D3EA-D8DA-29AF-8E1E116CB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530CF-F798-0CE0-5F77-C13D5B7EC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C2D65-3518-3557-4604-4878008DB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21A5A-14CC-8067-261C-67739B73A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9FF25-059D-4EF2-EE46-7BE3D366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706AA0-DB8E-888B-2A82-06B0CEF51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FD8B0C-E714-4248-7DF2-EF3D1B47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029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6246-863C-EEB7-BE19-A8F8AD63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08FB8-DCA2-7373-5454-7E06293B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79E34-CAFC-7B9B-A83A-DCFA4A8B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9AF3E-4739-3F76-EBC2-583FC62C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370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C34C00-C276-12A5-851C-7D48B4C6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7922CB-B786-1D5D-2A29-F6852D5B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59DE5-CEC7-1CF5-7943-2DB7B2B4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995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CA26-CAAC-CECD-F16D-74BE508C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7EE8-14BE-121D-17E5-7316E1AF2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5C2B4-61E4-4839-0C48-11FFD81D6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AE21B-E134-FA82-0695-6D4B39EB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930B2-63B8-2835-7E04-EEB11CF0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72803-F0E2-7432-A7BC-A6D1B2EB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001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2BAF1-8E59-4A97-FB29-1A9B8BEB7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AAA17A-85C1-DEB0-4460-99DC9CE80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FBCBC-B10E-EF89-A59A-AE1E66946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8F58D-111C-4927-6048-0272FC0B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A2FBB-B8B8-FD08-236C-95AEE090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17FFF-A629-3115-1663-E7640B16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074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6CB99-A281-64C3-0453-34EF0EF1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1ABB8-6365-CAE7-C522-DCF836B7B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0C8B3-751A-FAFE-7FCF-98226D247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E3A34-17FA-C8B3-604B-27DDAFC24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89CAA-5C02-1CE1-75A0-5321D7EC2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736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234C2B-E817-36A3-A837-A273F2806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77AD2-C082-2FF5-9E61-C10209D87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F79A0-64E0-C5BB-7778-BAE450BC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D56C9-8847-4BDA-7CAA-EF473E88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52AAC-E2EE-73B3-CAE9-A5BEE244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998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15AC26-94BB-480E-54C6-34CEBF111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65370-71C1-8A27-71E2-94E38C13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C2D08-634C-865B-39D9-C0DE46140F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17CEB-EE26-4CFC-BFE9-9925B866603C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4D02F-205F-D4C3-9FD7-DEEC0F653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DE032-C529-4FE2-7B17-7F2A64742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ECFAB-8A57-4C70-8E61-4C46BD383D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9685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ydrosymple.com/wp-content/uploads/2025/08/pest_book.pdf" TargetMode="External"/><Relationship Id="rId2" Type="http://schemas.openxmlformats.org/officeDocument/2006/relationships/hyperlink" Target="https://doc.cfd.direct/notes/cfd-general-principl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mechanistlab.com/documents/Ruiz_WhitePaper_MetamaterialUQ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F7D4DC02-683C-57A8-4C9E-464FEB04DDDD}"/>
              </a:ext>
            </a:extLst>
          </p:cNvPr>
          <p:cNvGrpSpPr/>
          <p:nvPr/>
        </p:nvGrpSpPr>
        <p:grpSpPr>
          <a:xfrm>
            <a:off x="3023656" y="3844817"/>
            <a:ext cx="2437988" cy="1348380"/>
            <a:chOff x="6219090" y="2554504"/>
            <a:chExt cx="2437988" cy="1275543"/>
          </a:xfrm>
        </p:grpSpPr>
        <p:sp>
          <p:nvSpPr>
            <p:cNvPr id="22" name="Object 4">
              <a:extLst>
                <a:ext uri="{63B3BB69-23CF-44E3-9099-C40C66FF867C}">
                  <a14:compatExt xmlns:a14="http://schemas.microsoft.com/office/drawing/2010/main" spid="_x0000_s1028"/>
                </a:ext>
                <a:ext uri="{FF2B5EF4-FFF2-40B4-BE49-F238E27FC236}">
                  <a16:creationId xmlns:a16="http://schemas.microsoft.com/office/drawing/2014/main" id="{C5F778B0-96C8-A6B2-AD39-29BF6CA8D9C0}"/>
                </a:ext>
              </a:extLst>
            </p:cNvPr>
            <p:cNvSpPr txBox="1"/>
            <p:nvPr/>
          </p:nvSpPr>
          <p:spPr>
            <a:xfrm>
              <a:off x="6234330" y="2620050"/>
              <a:ext cx="2422748" cy="12099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noFill/>
            </a:ln>
            <a:effectLst>
              <a:outerShdw blurRad="50800" dist="38100" dir="8100000" sx="101000" sy="101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GB" sz="3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5AB0185-1287-BB8B-67D5-A1AFB0452A2C}"/>
                </a:ext>
              </a:extLst>
            </p:cNvPr>
            <p:cNvSpPr txBox="1"/>
            <p:nvPr/>
          </p:nvSpPr>
          <p:spPr>
            <a:xfrm>
              <a:off x="6219090" y="2554504"/>
              <a:ext cx="2422748" cy="4367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u="sng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Pylops</a:t>
              </a:r>
              <a:r>
                <a:rPr lang="pt-BR" sz="2400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 </a:t>
              </a:r>
              <a:r>
                <a:rPr lang="en-US" b="1" dirty="0"/>
                <a:t>SciPy.sparse</a:t>
              </a:r>
              <a:endParaRPr lang="LID4096" b="1" u="sng" dirty="0">
                <a:solidFill>
                  <a:srgbClr val="FF0000"/>
                </a:solidFill>
              </a:endParaRPr>
            </a:p>
          </p:txBody>
        </p:sp>
        <p:pic>
          <p:nvPicPr>
            <p:cNvPr id="29" name="Picture 6" descr="PyLops - Home">
              <a:extLst>
                <a:ext uri="{FF2B5EF4-FFF2-40B4-BE49-F238E27FC236}">
                  <a16:creationId xmlns:a16="http://schemas.microsoft.com/office/drawing/2014/main" id="{2D156EE6-662A-3F15-BE13-31C5EB8368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3199" y="3196146"/>
              <a:ext cx="1578822" cy="523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4E0AE8D-30CE-54A4-FABF-6C12984FFD85}"/>
              </a:ext>
            </a:extLst>
          </p:cNvPr>
          <p:cNvSpPr txBox="1"/>
          <p:nvPr/>
        </p:nvSpPr>
        <p:spPr>
          <a:xfrm>
            <a:off x="3036203" y="5786980"/>
            <a:ext cx="5104974" cy="41148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91440" rIns="182880" bIns="91440" anchor="ctr" anchorCtr="0">
            <a:noAutofit/>
          </a:bodyPr>
          <a:lstStyle>
            <a:defPPr>
              <a:defRPr lang="LID4096"/>
            </a:defPPr>
            <a:lvl1pPr indent="0" algn="ctr">
              <a:spcAft>
                <a:spcPts val="600"/>
              </a:spcAft>
              <a:defRPr sz="2000" b="1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US" i="0" dirty="0"/>
              <a:t>FSI –</a:t>
            </a:r>
            <a:r>
              <a:rPr lang="en-US" dirty="0"/>
              <a:t> Fluid</a:t>
            </a:r>
            <a:r>
              <a:rPr lang="en-US" sz="1050" dirty="0"/>
              <a:t> </a:t>
            </a:r>
            <a:r>
              <a:rPr lang="en-US" dirty="0"/>
              <a:t>-</a:t>
            </a:r>
            <a:r>
              <a:rPr lang="en-US" sz="1050" dirty="0"/>
              <a:t> </a:t>
            </a:r>
            <a:r>
              <a:rPr lang="en-US" dirty="0"/>
              <a:t>Structure Interaction</a:t>
            </a:r>
            <a:endParaRPr lang="LID4096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EB6DC-156C-3FD8-0904-BFEC269F44DB}"/>
              </a:ext>
            </a:extLst>
          </p:cNvPr>
          <p:cNvSpPr txBox="1"/>
          <p:nvPr/>
        </p:nvSpPr>
        <p:spPr>
          <a:xfrm>
            <a:off x="495788" y="1146331"/>
            <a:ext cx="230129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noProof="0" dirty="0">
                <a:solidFill>
                  <a:srgbClr val="FF0000"/>
                </a:solidFill>
              </a:rPr>
              <a:t>CFD</a:t>
            </a:r>
            <a:r>
              <a:rPr lang="pt-BR" sz="2400" b="1" noProof="0" dirty="0">
                <a:solidFill>
                  <a:srgbClr val="FF0000"/>
                </a:solidFill>
              </a:rPr>
              <a:t>       </a:t>
            </a:r>
          </a:p>
          <a:p>
            <a:r>
              <a:rPr lang="pt-BR" sz="2400" b="1" noProof="0" dirty="0">
                <a:solidFill>
                  <a:srgbClr val="0000FF"/>
                </a:solidFill>
              </a:rPr>
              <a:t>-  Fluxo, pressão, </a:t>
            </a:r>
            <a:r>
              <a:rPr lang="pt-BR" sz="2400" b="1" noProof="0" dirty="0">
                <a:solidFill>
                  <a:srgbClr val="FF0000"/>
                </a:solidFill>
              </a:rPr>
              <a:t>temperatura, ...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D257CD-57B8-1C90-4F40-8CBC98875E6B}"/>
              </a:ext>
            </a:extLst>
          </p:cNvPr>
          <p:cNvSpPr txBox="1"/>
          <p:nvPr/>
        </p:nvSpPr>
        <p:spPr>
          <a:xfrm>
            <a:off x="4101983" y="1136635"/>
            <a:ext cx="404338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90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900" b="1" noProof="0" dirty="0"/>
              <a:t> </a:t>
            </a:r>
            <a:r>
              <a:rPr lang="pt-BR" sz="1900" b="1" noProof="0" dirty="0">
                <a:solidFill>
                  <a:srgbClr val="0000FF"/>
                </a:solidFill>
              </a:rPr>
              <a:t>Stress, Deformação, Vibração, Fadiga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1244C2-D65D-17E5-D990-3F9A368C81BA}"/>
              </a:ext>
            </a:extLst>
          </p:cNvPr>
          <p:cNvSpPr txBox="1"/>
          <p:nvPr/>
        </p:nvSpPr>
        <p:spPr>
          <a:xfrm>
            <a:off x="3038896" y="5259146"/>
            <a:ext cx="2422748" cy="3886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8100000" sx="101000" sy="101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>
              <a:lnSpc>
                <a:spcPts val="2500"/>
              </a:lnSpc>
            </a:pPr>
            <a:r>
              <a:rPr lang="en-US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Sparce</a:t>
            </a:r>
            <a:r>
              <a:rPr lang="en-US" sz="2400" b="1" i="1" dirty="0">
                <a:solidFill>
                  <a:srgbClr val="00B050"/>
                </a:solidFill>
                <a:latin typeface="LMRoman12-Regular"/>
              </a:rPr>
              <a:t> </a:t>
            </a: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matrix</a:t>
            </a:r>
            <a:endParaRPr lang="LID4096" sz="1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63959C-3FF5-1DDE-ED4D-1CA56AC6E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132" y="5286173"/>
            <a:ext cx="947946" cy="107159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201D0F-299B-D8CB-2F50-B70D9020022B}"/>
              </a:ext>
            </a:extLst>
          </p:cNvPr>
          <p:cNvSpPr txBox="1"/>
          <p:nvPr/>
        </p:nvSpPr>
        <p:spPr>
          <a:xfrm>
            <a:off x="9723945" y="5831089"/>
            <a:ext cx="884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800" b="1" dirty="0"/>
              <a:t>Fi</a:t>
            </a:r>
            <a:r>
              <a:rPr lang="pt-BR" sz="2800" b="1" dirty="0">
                <a:solidFill>
                  <a:srgbClr val="FF0000"/>
                </a:solidFill>
              </a:rPr>
              <a:t>Py</a:t>
            </a:r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20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77C50378-8391-9951-A95C-5BE8B7671CDE}"/>
              </a:ext>
            </a:extLst>
          </p:cNvPr>
          <p:cNvSpPr txBox="1"/>
          <p:nvPr/>
        </p:nvSpPr>
        <p:spPr>
          <a:xfrm>
            <a:off x="3205688" y="1268492"/>
            <a:ext cx="1005840" cy="347472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pt-BR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</a:rPr>
              <a:t>+ FEA</a:t>
            </a:r>
            <a:endParaRPr lang="en-GB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181485-821D-507C-399E-3E7B48F248A9}"/>
              </a:ext>
            </a:extLst>
          </p:cNvPr>
          <p:cNvSpPr txBox="1"/>
          <p:nvPr/>
        </p:nvSpPr>
        <p:spPr>
          <a:xfrm>
            <a:off x="4221467" y="1370546"/>
            <a:ext cx="1882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b="1" noProof="0" dirty="0">
                <a:solidFill>
                  <a:srgbClr val="FF0000"/>
                </a:solidFill>
              </a:rPr>
              <a:t>Análise Estrutural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033FB9-4F7F-5A74-D2FF-D7EF65802C1F}"/>
              </a:ext>
            </a:extLst>
          </p:cNvPr>
          <p:cNvGrpSpPr/>
          <p:nvPr/>
        </p:nvGrpSpPr>
        <p:grpSpPr>
          <a:xfrm>
            <a:off x="3061997" y="1783427"/>
            <a:ext cx="5079180" cy="1926061"/>
            <a:chOff x="3181640" y="2138722"/>
            <a:chExt cx="4817223" cy="178441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BC64ACE-066C-0B1C-F94B-1B1656E0A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1640" y="2138722"/>
              <a:ext cx="4817223" cy="178441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B23AACA-B889-9F66-422F-FD8DE94A57E9}"/>
                </a:ext>
              </a:extLst>
            </p:cNvPr>
            <p:cNvSpPr txBox="1"/>
            <p:nvPr/>
          </p:nvSpPr>
          <p:spPr>
            <a:xfrm>
              <a:off x="4977059" y="3168074"/>
              <a:ext cx="86154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F(</a:t>
              </a:r>
              <a:r>
                <a:rPr lang="el-GR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Φ</a:t>
              </a:r>
              <a:r>
                <a:rPr lang="pt-BR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)</a:t>
              </a:r>
              <a:endPara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A27350B2-3C91-47FA-EC2C-78B9E63EFBD3}"/>
              </a:ext>
            </a:extLst>
          </p:cNvPr>
          <p:cNvSpPr txBox="1"/>
          <p:nvPr/>
        </p:nvSpPr>
        <p:spPr>
          <a:xfrm>
            <a:off x="495788" y="2563732"/>
            <a:ext cx="2307246" cy="22958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  <a:effectLst>
            <a:outerShdw blurRad="50800" dist="38100" dir="8100000" sx="101000" sy="101000" algn="tr" rotWithShape="0">
              <a:prstClr val="black">
                <a:alpha val="40000"/>
              </a:prstClr>
            </a:outerShdw>
          </a:effectLst>
        </p:spPr>
        <p:txBody>
          <a:bodyPr wrap="none" lIns="182880" tIns="137160" rIns="182880" bIns="9144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000" b="1" u="sng" dirty="0">
                <a:solidFill>
                  <a:srgbClr val="0000FF"/>
                </a:solidFill>
                <a:latin typeface="Calibri (Body)"/>
              </a:rPr>
              <a:t>Finite-difference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solidFill>
                  <a:srgbClr val="0000FF"/>
                </a:solidFill>
                <a:latin typeface="Calibri (Body)"/>
              </a:rPr>
              <a:t>  </a:t>
            </a:r>
            <a:r>
              <a:rPr lang="en-GB" sz="2000" dirty="0">
                <a:solidFill>
                  <a:srgbClr val="0000FF"/>
                </a:solidFill>
                <a:latin typeface="Calibri (Body)"/>
              </a:rPr>
              <a:t>MODFLOW</a:t>
            </a:r>
          </a:p>
          <a:p>
            <a:pPr>
              <a:spcAft>
                <a:spcPts val="600"/>
              </a:spcAft>
            </a:pPr>
            <a:r>
              <a:rPr lang="en-GB" sz="2600" b="1" u="sng" dirty="0">
                <a:solidFill>
                  <a:srgbClr val="FF0000"/>
                </a:solidFill>
                <a:latin typeface="Calibri (Body)"/>
              </a:rPr>
              <a:t>Finite-volume</a:t>
            </a:r>
          </a:p>
          <a:p>
            <a:r>
              <a:rPr lang="en-US" sz="2000" dirty="0">
                <a:solidFill>
                  <a:srgbClr val="FF0000"/>
                </a:solidFill>
                <a:latin typeface="Calibri (Body)"/>
              </a:rPr>
              <a:t>   OpenFOAM</a:t>
            </a:r>
          </a:p>
          <a:p>
            <a:r>
              <a:rPr lang="pt-BR" sz="2800" dirty="0">
                <a:solidFill>
                  <a:srgbClr val="FF0000"/>
                </a:solidFill>
                <a:latin typeface="Calibri (Body)"/>
              </a:rPr>
              <a:t>  </a:t>
            </a:r>
            <a:r>
              <a:rPr lang="pt-BR" sz="2800" b="1" dirty="0">
                <a:latin typeface="Calibri (Body)"/>
              </a:rPr>
              <a:t>Fi</a:t>
            </a:r>
            <a:r>
              <a:rPr lang="pt-BR" sz="2800" b="1" dirty="0">
                <a:solidFill>
                  <a:srgbClr val="FF0000"/>
                </a:solidFill>
                <a:latin typeface="Calibri (Body)"/>
              </a:rPr>
              <a:t>Py</a:t>
            </a:r>
            <a:endParaRPr lang="pt-BR" sz="2400" b="1" dirty="0">
              <a:solidFill>
                <a:srgbClr val="FF0000"/>
              </a:solidFill>
              <a:latin typeface="Calibri (Body)"/>
            </a:endParaRPr>
          </a:p>
        </p:txBody>
      </p:sp>
      <p:sp>
        <p:nvSpPr>
          <p:cNvPr id="19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86015928-6DB0-222D-7C84-B41EE5962163}"/>
              </a:ext>
            </a:extLst>
          </p:cNvPr>
          <p:cNvSpPr txBox="1"/>
          <p:nvPr/>
        </p:nvSpPr>
        <p:spPr>
          <a:xfrm>
            <a:off x="1861865" y="4390793"/>
            <a:ext cx="822960" cy="347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pt-BR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</a:rPr>
              <a:t>FVM</a:t>
            </a:r>
            <a:endParaRPr lang="en-GB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5C21CBE0-AEA2-3F10-3A89-CF5D05ABDBFE}"/>
              </a:ext>
            </a:extLst>
          </p:cNvPr>
          <p:cNvSpPr txBox="1"/>
          <p:nvPr/>
        </p:nvSpPr>
        <p:spPr>
          <a:xfrm>
            <a:off x="507176" y="4945057"/>
            <a:ext cx="2301290" cy="1246886"/>
          </a:xfrm>
          <a:prstGeom prst="rect">
            <a:avLst/>
          </a:prstGeom>
          <a:solidFill>
            <a:srgbClr val="A7E8FF"/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109728" rIns="182880" bIns="9144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GB" sz="1800" b="1" u="sng" dirty="0">
                <a:solidFill>
                  <a:srgbClr val="000000"/>
                </a:solidFill>
                <a:latin typeface="Calibri (Body)"/>
              </a:rPr>
              <a:t>Finite-element</a:t>
            </a:r>
          </a:p>
          <a:p>
            <a:pPr>
              <a:spcAft>
                <a:spcPts val="300"/>
              </a:spcAft>
            </a:pPr>
            <a:r>
              <a:rPr lang="en-GB" sz="1500" dirty="0">
                <a:solidFill>
                  <a:srgbClr val="000000"/>
                </a:solidFill>
                <a:latin typeface="Calibri (Body)"/>
              </a:rPr>
              <a:t>  FEniCS ; </a:t>
            </a:r>
            <a:r>
              <a:rPr lang="en-US" sz="1500" dirty="0">
                <a:latin typeface="Calibri (Body)"/>
              </a:rPr>
              <a:t>SfePy ; </a:t>
            </a:r>
            <a:r>
              <a:rPr lang="en-US" sz="1800" b="1" dirty="0">
                <a:solidFill>
                  <a:srgbClr val="FF0000"/>
                </a:solidFill>
                <a:latin typeface="Calibri (Body)"/>
              </a:rPr>
              <a:t>FEM</a:t>
            </a:r>
            <a:endParaRPr lang="en-US" sz="1500" b="1" dirty="0">
              <a:solidFill>
                <a:srgbClr val="FF0000"/>
              </a:solidFill>
              <a:latin typeface="Calibri (Body)"/>
            </a:endParaRPr>
          </a:p>
          <a:p>
            <a:pPr>
              <a:spcAft>
                <a:spcPts val="300"/>
              </a:spcAft>
            </a:pPr>
            <a:r>
              <a:rPr lang="en-GB" sz="1500" b="1" dirty="0">
                <a:latin typeface="Calibri (Body)"/>
              </a:rPr>
              <a:t>DEM, IBM, </a:t>
            </a:r>
            <a:r>
              <a:rPr lang="en-GB" sz="1500" b="1" dirty="0">
                <a:latin typeface="Calibri (Body)"/>
                <a:ea typeface="Cambria Math" panose="02040503050406030204" pitchFamily="18" charset="0"/>
              </a:rPr>
              <a:t>LBM, BEM, MEC …</a:t>
            </a:r>
            <a:endParaRPr lang="en-US" sz="1500" dirty="0">
              <a:latin typeface="Calibri (Body)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23DBD5-1B9D-AABB-CBB4-F1E77463C1CC}"/>
              </a:ext>
            </a:extLst>
          </p:cNvPr>
          <p:cNvSpPr txBox="1"/>
          <p:nvPr/>
        </p:nvSpPr>
        <p:spPr>
          <a:xfrm>
            <a:off x="4492598" y="4263876"/>
            <a:ext cx="1346006" cy="415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buNone/>
            </a:pPr>
            <a:r>
              <a:rPr lang="en-GB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PEST</a:t>
            </a:r>
            <a:endParaRPr lang="en-GB" sz="2800" dirty="0">
              <a:solidFill>
                <a:srgbClr val="C000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7E0C4-06A4-0E00-98DE-D2EC557C5BE5}"/>
              </a:ext>
            </a:extLst>
          </p:cNvPr>
          <p:cNvSpPr txBox="1"/>
          <p:nvPr/>
        </p:nvSpPr>
        <p:spPr>
          <a:xfrm>
            <a:off x="6095999" y="3930948"/>
            <a:ext cx="1902863" cy="749292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91440" rIns="182880" bIns="91440" anchor="ctr" anchorCtr="0">
            <a:noAutofit/>
          </a:bodyPr>
          <a:lstStyle>
            <a:defPPr>
              <a:defRPr lang="LID4096"/>
            </a:defPPr>
            <a:lvl1pPr indent="0" algn="ctr">
              <a:spcAft>
                <a:spcPts val="600"/>
              </a:spcAft>
              <a:defRPr sz="2200" b="1">
                <a:latin typeface="Calibri (Body)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pPr algn="l"/>
            <a:r>
              <a:rPr lang="pt-BR" dirty="0">
                <a:solidFill>
                  <a:srgbClr val="FF0000"/>
                </a:solidFill>
              </a:rPr>
              <a:t>Py</a:t>
            </a:r>
            <a:r>
              <a:rPr lang="pt-BR" dirty="0"/>
              <a:t>Ansys </a:t>
            </a:r>
          </a:p>
          <a:p>
            <a:pPr algn="l"/>
            <a:r>
              <a:rPr lang="en-US" dirty="0">
                <a:solidFill>
                  <a:srgbClr val="FF0000"/>
                </a:solidFill>
              </a:rPr>
              <a:t>Py</a:t>
            </a:r>
            <a:r>
              <a:rPr lang="en-US" dirty="0"/>
              <a:t>MAPDL</a:t>
            </a:r>
          </a:p>
        </p:txBody>
      </p:sp>
      <p:sp>
        <p:nvSpPr>
          <p:cNvPr id="11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1231A692-B9E9-16C5-714E-D430C4055A67}"/>
              </a:ext>
            </a:extLst>
          </p:cNvPr>
          <p:cNvSpPr txBox="1"/>
          <p:nvPr/>
        </p:nvSpPr>
        <p:spPr>
          <a:xfrm>
            <a:off x="6093440" y="4778702"/>
            <a:ext cx="1902863" cy="879668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 algn="r">
              <a:lnSpc>
                <a:spcPts val="2500"/>
              </a:lnSpc>
              <a:defRPr sz="2400" b="1">
                <a:solidFill>
                  <a:srgbClr val="00B050"/>
                </a:solidFill>
                <a:latin typeface="LMRoman12-Regular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i="1" dirty="0"/>
              <a:t>   - Stiffness </a:t>
            </a:r>
          </a:p>
          <a:p>
            <a:pPr algn="l"/>
            <a:r>
              <a:rPr lang="en-GB" sz="2000" i="1" dirty="0"/>
              <a:t>   - Mass    </a:t>
            </a:r>
          </a:p>
          <a:p>
            <a:pPr algn="l"/>
            <a:r>
              <a:rPr lang="en-GB" sz="2000" i="1" dirty="0"/>
              <a:t>            </a:t>
            </a:r>
            <a:r>
              <a:rPr lang="en-GB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matrix</a:t>
            </a:r>
            <a:endParaRPr 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3830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4C77C-AB83-1B1A-9E7D-A0A1C2E9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BE7AB6D-3839-2710-8E18-E9D1197ED7A4}"/>
              </a:ext>
            </a:extLst>
          </p:cNvPr>
          <p:cNvSpPr txBox="1"/>
          <p:nvPr/>
        </p:nvSpPr>
        <p:spPr>
          <a:xfrm>
            <a:off x="272599" y="523299"/>
            <a:ext cx="5367946" cy="645940"/>
          </a:xfrm>
          <a:prstGeom prst="rect">
            <a:avLst/>
          </a:prstGeom>
          <a:solidFill>
            <a:srgbClr val="A7E8FF"/>
          </a:solidFill>
        </p:spPr>
        <p:txBody>
          <a:bodyPr wrap="square" rtlCol="0">
            <a:noAutofit/>
          </a:bodyPr>
          <a:lstStyle>
            <a:defPPr>
              <a:defRPr lang="LID4096"/>
            </a:defPPr>
            <a:lvl1pPr>
              <a:defRPr sz="3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b="1" dirty="0"/>
              <a:t>Resultados esperados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016BD-4663-1907-BBFA-147EDFC5EAD3}"/>
              </a:ext>
            </a:extLst>
          </p:cNvPr>
          <p:cNvSpPr txBox="1"/>
          <p:nvPr/>
        </p:nvSpPr>
        <p:spPr>
          <a:xfrm>
            <a:off x="452844" y="3857617"/>
            <a:ext cx="11139081" cy="2516780"/>
          </a:xfrm>
          <a:prstGeom prst="rect">
            <a:avLst/>
          </a:prstGeom>
          <a:noFill/>
          <a:ln w="38100">
            <a:noFill/>
          </a:ln>
        </p:spPr>
        <p:txBody>
          <a:bodyPr wrap="square" tIns="182880" bIns="365760" anchor="t" anchorCtr="0">
            <a:noAutofit/>
          </a:bodyPr>
          <a:lstStyle>
            <a:defPPr>
              <a:defRPr lang="LID4096"/>
            </a:defPPr>
            <a:lvl1pPr lvl="0" indent="0"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lvl="1" indent="0">
              <a:defRPr sz="24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pPr>
              <a:spcAft>
                <a:spcPts val="1200"/>
              </a:spcAft>
            </a:pPr>
            <a:r>
              <a:rPr lang="pt-BR" sz="2800" u="sng" dirty="0">
                <a:effectLst/>
              </a:rPr>
              <a:t>Abrir</a:t>
            </a:r>
            <a:r>
              <a:rPr lang="pt-BR" sz="2800" dirty="0">
                <a:effectLst/>
              </a:rPr>
              <a:t> novas possibilidades para variados tipos de fluidos, e em diferentes contextos, oceanografia, climatologia, geofísica, imagens de fluxo*; </a:t>
            </a:r>
          </a:p>
          <a:p>
            <a:pPr>
              <a:spcAft>
                <a:spcPts val="1200"/>
              </a:spcAft>
            </a:pPr>
            <a:r>
              <a:rPr lang="pt-BR" sz="2800" u="sng" dirty="0">
                <a:effectLst/>
              </a:rPr>
              <a:t>Aplicar</a:t>
            </a:r>
            <a:r>
              <a:rPr lang="pt-BR" sz="2800" dirty="0">
                <a:effectLst/>
              </a:rPr>
              <a:t> em cenários de escoamentos viscosos e turbulentos;</a:t>
            </a:r>
          </a:p>
          <a:p>
            <a:pPr>
              <a:spcAft>
                <a:spcPts val="1200"/>
              </a:spcAft>
            </a:pPr>
            <a:r>
              <a:rPr lang="pt-BR" sz="2800" u="sng" dirty="0">
                <a:effectLst/>
              </a:rPr>
              <a:t>Trazer</a:t>
            </a:r>
            <a:r>
              <a:rPr lang="pt-BR" sz="2800" dirty="0">
                <a:effectLst/>
              </a:rPr>
              <a:t> ganhos de eficiência, performance e produtividade.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393FF-0D4B-00AB-1D0D-9810161F7DFF}"/>
              </a:ext>
            </a:extLst>
          </p:cNvPr>
          <p:cNvSpPr txBox="1"/>
          <p:nvPr/>
        </p:nvSpPr>
        <p:spPr>
          <a:xfrm>
            <a:off x="452843" y="1418567"/>
            <a:ext cx="10833466" cy="1733008"/>
          </a:xfrm>
          <a:prstGeom prst="rect">
            <a:avLst/>
          </a:prstGeom>
          <a:noFill/>
          <a:ln w="38100">
            <a:noFill/>
          </a:ln>
        </p:spPr>
        <p:txBody>
          <a:bodyPr wrap="square" bIns="182880" anchor="t" anchorCtr="0">
            <a:noAutofit/>
          </a:bodyPr>
          <a:lstStyle>
            <a:defPPr>
              <a:defRPr lang="LID4096"/>
            </a:defPPr>
            <a:lvl1pPr lvl="0" indent="0"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lvl="1" indent="0">
              <a:defRPr sz="24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pt-BR" sz="2800" dirty="0">
                <a:effectLst/>
              </a:rPr>
              <a:t>Espera-se construir um código básico que atenda os requisitos da modelagem numérica direta, inversa e análise de incerteza PEST no contexto CFD, em um problema prático, ainda que sintético.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78205-99EA-1E40-8EA7-9AA5A7A46F75}"/>
              </a:ext>
            </a:extLst>
          </p:cNvPr>
          <p:cNvSpPr txBox="1"/>
          <p:nvPr/>
        </p:nvSpPr>
        <p:spPr>
          <a:xfrm>
            <a:off x="272599" y="3167324"/>
            <a:ext cx="5367946" cy="646331"/>
          </a:xfrm>
          <a:prstGeom prst="rect">
            <a:avLst/>
          </a:prstGeom>
          <a:solidFill>
            <a:srgbClr val="A7E8FF"/>
          </a:solidFill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lvl="1" indent="0">
              <a:defRPr sz="24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pt-BR" dirty="0"/>
              <a:t>Motivação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75A4E9-D8AE-D689-858E-BEA74483DC77}"/>
              </a:ext>
            </a:extLst>
          </p:cNvPr>
          <p:cNvGrpSpPr>
            <a:grpSpLocks noChangeAspect="1"/>
          </p:cNvGrpSpPr>
          <p:nvPr/>
        </p:nvGrpSpPr>
        <p:grpSpPr>
          <a:xfrm>
            <a:off x="10852269" y="6419257"/>
            <a:ext cx="1396713" cy="485569"/>
            <a:chOff x="9913473" y="579416"/>
            <a:chExt cx="2101323" cy="72963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15FB831-12BD-5086-F2FA-1AA45CF5B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72566" y="579416"/>
              <a:ext cx="1069563" cy="38004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EBEEC0-5997-D5D4-0410-385258B39340}"/>
                </a:ext>
              </a:extLst>
            </p:cNvPr>
            <p:cNvSpPr txBox="1"/>
            <p:nvPr/>
          </p:nvSpPr>
          <p:spPr>
            <a:xfrm>
              <a:off x="9913473" y="846573"/>
              <a:ext cx="2101323" cy="462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pt-BR" sz="1400" dirty="0">
                  <a:solidFill>
                    <a:srgbClr val="000000"/>
                  </a:solidFill>
                  <a:effectLst/>
                  <a:latin typeface="Horley Old Style MT"/>
                  <a:ea typeface="MS Gothic" panose="020B0609070205080204" pitchFamily="49" charset="-128"/>
                  <a:cs typeface="Times New Roman" panose="02020603050405020304" pitchFamily="18" charset="0"/>
                </a:rPr>
                <a:t>Guaratinguetá</a:t>
              </a:r>
              <a:endParaRPr lang="LID4096" sz="1400" dirty="0"/>
            </a:p>
          </p:txBody>
        </p:sp>
      </p:grpSp>
      <p:sp>
        <p:nvSpPr>
          <p:cNvPr id="9" name="Retângulo 83">
            <a:extLst>
              <a:ext uri="{FF2B5EF4-FFF2-40B4-BE49-F238E27FC236}">
                <a16:creationId xmlns:a16="http://schemas.microsoft.com/office/drawing/2014/main" id="{D670E4C9-E803-4EF9-86D8-377E11D5F8CA}"/>
              </a:ext>
            </a:extLst>
          </p:cNvPr>
          <p:cNvSpPr>
            <a:spLocks noChangeAspect="1"/>
          </p:cNvSpPr>
          <p:nvPr/>
        </p:nvSpPr>
        <p:spPr>
          <a:xfrm>
            <a:off x="11027121" y="6419257"/>
            <a:ext cx="1164878" cy="438544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 b="1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C44649-E75F-4A60-D67D-6FC3E1152554}"/>
              </a:ext>
            </a:extLst>
          </p:cNvPr>
          <p:cNvSpPr txBox="1"/>
          <p:nvPr/>
        </p:nvSpPr>
        <p:spPr>
          <a:xfrm>
            <a:off x="1" y="365"/>
            <a:ext cx="6591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>
                    <a:lumMod val="65000"/>
                  </a:schemeClr>
                </a:solidFill>
              </a:rPr>
              <a:t>Processo Seletivo – Doutorado Engenharia : 2º semestre 2026</a:t>
            </a:r>
          </a:p>
        </p:txBody>
      </p:sp>
    </p:spTree>
    <p:extLst>
      <p:ext uri="{BB962C8B-B14F-4D97-AF65-F5344CB8AC3E}">
        <p14:creationId xmlns:p14="http://schemas.microsoft.com/office/powerpoint/2010/main" val="314484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A152B-883D-086C-2A86-80491347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CE69EA5-CF2F-6BE7-C284-8F03E3F93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992735"/>
              </p:ext>
            </p:extLst>
          </p:nvPr>
        </p:nvGraphicFramePr>
        <p:xfrm>
          <a:off x="284235" y="1378555"/>
          <a:ext cx="11269827" cy="3352802"/>
        </p:xfrm>
        <a:graphic>
          <a:graphicData uri="http://schemas.openxmlformats.org/drawingml/2006/table">
            <a:tbl>
              <a:tblPr firstRow="1" firstCol="1" bandRow="1"/>
              <a:tblGrid>
                <a:gridCol w="543242">
                  <a:extLst>
                    <a:ext uri="{9D8B030D-6E8A-4147-A177-3AD203B41FA5}">
                      <a16:colId xmlns:a16="http://schemas.microsoft.com/office/drawing/2014/main" val="2725690221"/>
                    </a:ext>
                  </a:extLst>
                </a:gridCol>
                <a:gridCol w="8238127">
                  <a:extLst>
                    <a:ext uri="{9D8B030D-6E8A-4147-A177-3AD203B41FA5}">
                      <a16:colId xmlns:a16="http://schemas.microsoft.com/office/drawing/2014/main" val="752986435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146562731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20157113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04973981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47981228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02222841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29518684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183087078"/>
                    </a:ext>
                  </a:extLst>
                </a:gridCol>
                <a:gridCol w="278658">
                  <a:extLst>
                    <a:ext uri="{9D8B030D-6E8A-4147-A177-3AD203B41FA5}">
                      <a16:colId xmlns:a16="http://schemas.microsoft.com/office/drawing/2014/main" val="3108006579"/>
                    </a:ext>
                  </a:extLst>
                </a:gridCol>
              </a:tblGrid>
              <a:tr h="3090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0" u="none" dirty="0">
                          <a:solidFill>
                            <a:schemeClr val="tx1"/>
                          </a:solidFill>
                          <a:effectLst/>
                          <a:latin typeface="Horley Old Style MT"/>
                          <a:ea typeface="Times New Roman" panose="02020603050405020304" pitchFamily="18" charset="0"/>
                        </a:rPr>
                        <a:t>1 </a:t>
                      </a:r>
                      <a:endParaRPr lang="pt-BR" sz="1400" b="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800" b="0" u="none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Disciplinas / Créditos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100" b="0" u="none" cap="all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585941"/>
                  </a:ext>
                </a:extLst>
              </a:tr>
              <a:tr h="3043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u="none" dirty="0">
                          <a:solidFill>
                            <a:srgbClr val="0000FF"/>
                          </a:solidFill>
                          <a:effectLst/>
                          <a:latin typeface="Horley Old Style MT"/>
                          <a:ea typeface="Times New Roman" panose="02020603050405020304" pitchFamily="18" charset="0"/>
                        </a:rPr>
                        <a:t>2 </a:t>
                      </a:r>
                      <a:endParaRPr lang="pt-BR" sz="1400" b="1" u="non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b="1" u="none" dirty="0">
                          <a:solidFill>
                            <a:srgbClr val="0000FF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Análise e replicação das soluções </a:t>
                      </a:r>
                      <a:r>
                        <a:rPr lang="pt-BR" sz="1400" b="1" u="none" dirty="0">
                          <a:solidFill>
                            <a:srgbClr val="0000FF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[ OpenFOAM ]</a:t>
                      </a:r>
                      <a:r>
                        <a:rPr lang="pt-BR" sz="1800" b="1" u="none" dirty="0">
                          <a:solidFill>
                            <a:srgbClr val="0000FF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 FVM: </a:t>
                      </a:r>
                      <a:r>
                        <a:rPr lang="pt-BR" sz="1800" b="1" u="none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Fi</a:t>
                      </a:r>
                      <a:r>
                        <a:rPr lang="pt-BR" sz="1800" b="1" u="none" dirty="0">
                          <a:solidFill>
                            <a:srgbClr val="FF0000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Py  </a:t>
                      </a:r>
                      <a:r>
                        <a:rPr lang="pt-BR" sz="1800" b="1" u="none" dirty="0">
                          <a:solidFill>
                            <a:srgbClr val="0000FF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&amp;  FEA: </a:t>
                      </a:r>
                      <a:r>
                        <a:rPr lang="pt-BR" sz="1800" dirty="0">
                          <a:solidFill>
                            <a:srgbClr val="FF0000"/>
                          </a:solidFill>
                        </a:rPr>
                        <a:t>Py</a:t>
                      </a:r>
                      <a:r>
                        <a:rPr lang="pt-BR" sz="1800" dirty="0"/>
                        <a:t>Ansys,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Py</a:t>
                      </a:r>
                      <a:r>
                        <a:rPr lang="en-US" sz="1800" dirty="0"/>
                        <a:t>MAPDL </a:t>
                      </a:r>
                      <a:endParaRPr lang="pt-BR" sz="1800" b="1" u="none" dirty="0">
                        <a:solidFill>
                          <a:srgbClr val="0000FF"/>
                        </a:solidFill>
                        <a:effectLst/>
                        <a:latin typeface="Calibri Light (Headings)"/>
                        <a:ea typeface="Times New Roman" panose="02020603050405020304" pitchFamily="18" charset="0"/>
                      </a:endParaRP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100" b="1" u="none" cap="all" baseline="0" dirty="0">
                          <a:solidFill>
                            <a:srgbClr val="0000FF"/>
                          </a:solidFill>
                          <a:latin typeface="Arial Black" panose="020B0A04020102020204" pitchFamily="34" charset="0"/>
                        </a:rPr>
                        <a:t>x</a:t>
                      </a:r>
                      <a:endParaRPr lang="LID4096" sz="1100" b="1" u="none" cap="all" baseline="0" dirty="0">
                        <a:solidFill>
                          <a:srgbClr val="00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100" b="1" u="none" cap="all" baseline="0" dirty="0">
                          <a:solidFill>
                            <a:srgbClr val="0000FF"/>
                          </a:solidFill>
                          <a:latin typeface="Arial Black" panose="020B0A04020102020204" pitchFamily="34" charset="0"/>
                        </a:rPr>
                        <a:t>X</a:t>
                      </a:r>
                      <a:endParaRPr lang="LID4096" sz="1100" b="1" u="none" cap="all" baseline="0" dirty="0">
                        <a:solidFill>
                          <a:srgbClr val="00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100" b="1" u="none" cap="all" baseline="0" dirty="0">
                          <a:solidFill>
                            <a:srgbClr val="0000FF"/>
                          </a:solidFill>
                          <a:latin typeface="Arial Black" panose="020B0A04020102020204" pitchFamily="34" charset="0"/>
                        </a:rPr>
                        <a:t>X</a:t>
                      </a:r>
                      <a:endParaRPr lang="LID4096" sz="1100" b="1" u="none" cap="all" baseline="0" dirty="0">
                        <a:solidFill>
                          <a:srgbClr val="00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LID4096" sz="1100" b="1" u="none" cap="all" baseline="0" dirty="0">
                        <a:solidFill>
                          <a:srgbClr val="00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LID4096" sz="1100" b="1" u="none" cap="all" baseline="0" dirty="0">
                        <a:solidFill>
                          <a:srgbClr val="00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100" b="1" u="none" cap="all" baseline="0" dirty="0">
                        <a:solidFill>
                          <a:srgbClr val="00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LID4096" sz="1100" b="1" u="none" cap="all" baseline="0" dirty="0">
                        <a:solidFill>
                          <a:srgbClr val="00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LID4096" sz="1100" b="1" u="none" cap="all" baseline="0" dirty="0">
                        <a:solidFill>
                          <a:srgbClr val="00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133079"/>
                  </a:ext>
                </a:extLst>
              </a:tr>
              <a:tr h="3043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0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2.1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800" b="0" u="none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Definição das Eq. Diferenciais ( </a:t>
                      </a:r>
                      <a:r>
                        <a:rPr lang="pt-BR" sz="1800" b="0" u="sng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fluxo de calor</a:t>
                      </a:r>
                      <a:r>
                        <a:rPr lang="pt-BR" sz="1800" b="0" u="none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 ); Traduções MODFLOW | PEST - CFD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100" b="0" u="none" cap="all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772016"/>
                  </a:ext>
                </a:extLst>
              </a:tr>
              <a:tr h="60874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0" u="none" dirty="0">
                          <a:solidFill>
                            <a:schemeClr val="tx1"/>
                          </a:solidFill>
                          <a:effectLst/>
                          <a:latin typeface="Horley Old Style MT"/>
                          <a:ea typeface="Times New Roman" panose="02020603050405020304" pitchFamily="18" charset="0"/>
                        </a:rPr>
                        <a:t>2.2</a:t>
                      </a:r>
                      <a:endParaRPr lang="pt-BR" sz="1400" b="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800" b="1" u="non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 Light (Headings)"/>
                          <a:ea typeface="Times New Roman" panose="02020603050405020304" pitchFamily="18" charset="0"/>
                        </a:rPr>
                        <a:t>Criação do Modelo Numérico </a:t>
                      </a:r>
                      <a:r>
                        <a:rPr lang="pt-BR" sz="1800" b="0" u="none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- Discretização, </a:t>
                      </a:r>
                      <a:r>
                        <a:rPr lang="pt-BR" sz="1800" b="0" u="none" kern="1200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  <a:cs typeface="+mn-cs"/>
                        </a:rPr>
                        <a:t>Condições de contorno, fontes, funções  de entrada, solver e visualização dos resultados</a:t>
                      </a:r>
                      <a:endParaRPr lang="pt-BR" sz="1800" b="0" u="none" dirty="0">
                        <a:solidFill>
                          <a:schemeClr val="tx1"/>
                        </a:solidFill>
                        <a:effectLst/>
                        <a:latin typeface="Calibri Light (Headings)"/>
                        <a:ea typeface="Times New Roman" panose="02020603050405020304" pitchFamily="18" charset="0"/>
                      </a:endParaRP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100" b="0" u="none" cap="all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50955"/>
                  </a:ext>
                </a:extLst>
              </a:tr>
              <a:tr h="3043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u="non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u="none" dirty="0">
                          <a:solidFill>
                            <a:srgbClr val="0000FF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Entendimento / replicação da álgebra matricial do código PEST - </a:t>
                      </a:r>
                      <a:r>
                        <a:rPr lang="pt-BR" sz="1800" b="1" u="none" dirty="0">
                          <a:solidFill>
                            <a:srgbClr val="FF0000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Py</a:t>
                      </a:r>
                      <a:r>
                        <a:rPr lang="pt-BR" sz="1800" b="1" u="none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Lops 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1" u="none" cap="all" baseline="0" dirty="0">
                          <a:solidFill>
                            <a:srgbClr val="0000FF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pt-BR" sz="1100" b="1" u="none" cap="all" baseline="0" dirty="0">
                        <a:solidFill>
                          <a:srgbClr val="0000FF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1" u="none" cap="all" baseline="0" dirty="0">
                          <a:solidFill>
                            <a:srgbClr val="0000FF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1" u="none" cap="all" baseline="0" dirty="0">
                          <a:solidFill>
                            <a:srgbClr val="0000FF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1" u="none" cap="all" baseline="0" dirty="0">
                          <a:solidFill>
                            <a:srgbClr val="0000FF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1" u="none" cap="all" baseline="0" dirty="0">
                        <a:solidFill>
                          <a:srgbClr val="0000FF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100" b="1" u="none" cap="all" baseline="0" dirty="0">
                        <a:solidFill>
                          <a:srgbClr val="00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1" u="none" cap="all" baseline="0" dirty="0">
                        <a:solidFill>
                          <a:srgbClr val="0000FF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1" u="none" cap="all" baseline="0" dirty="0">
                        <a:solidFill>
                          <a:srgbClr val="0000FF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554220"/>
                  </a:ext>
                </a:extLst>
              </a:tr>
              <a:tr h="3043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0" u="none" dirty="0">
                          <a:solidFill>
                            <a:schemeClr val="tx1"/>
                          </a:solidFill>
                          <a:effectLst/>
                          <a:latin typeface="Horley Old Style MT"/>
                          <a:ea typeface="Times New Roman" panose="02020603050405020304" pitchFamily="18" charset="0"/>
                        </a:rPr>
                        <a:t>3.1</a:t>
                      </a:r>
                      <a:endParaRPr lang="pt-BR" sz="1400" b="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800" b="0" u="none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Implementações da modelagem inversa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100" b="0" u="none" cap="all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140326"/>
                  </a:ext>
                </a:extLst>
              </a:tr>
              <a:tr h="3043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0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3.2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u="non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 Light (Headings)"/>
                          <a:ea typeface="Times New Roman" panose="02020603050405020304" pitchFamily="18" charset="0"/>
                        </a:rPr>
                        <a:t>Publicação de artigo técnico científico </a:t>
                      </a:r>
                      <a:r>
                        <a:rPr lang="pt-BR" sz="1800" b="0" u="none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em evento internacional 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100" b="0" u="none" cap="all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020194"/>
                  </a:ext>
                </a:extLst>
              </a:tr>
              <a:tr h="3043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u="non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800" b="1" u="none" dirty="0">
                          <a:solidFill>
                            <a:srgbClr val="0000FF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Implementação CFD-PEST em </a:t>
                      </a:r>
                      <a:r>
                        <a:rPr lang="pt-BR" sz="1800" b="1" u="sng" dirty="0">
                          <a:solidFill>
                            <a:srgbClr val="0000FF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novo problema</a:t>
                      </a:r>
                      <a:r>
                        <a:rPr lang="pt-BR" sz="1800" b="1" u="none" dirty="0">
                          <a:solidFill>
                            <a:srgbClr val="0000FF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 (impressão 3D, provavelmente)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1" u="none" cap="all" baseline="0" dirty="0">
                        <a:solidFill>
                          <a:srgbClr val="0000FF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1" u="none" cap="all" baseline="0" dirty="0">
                        <a:solidFill>
                          <a:srgbClr val="0000FF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1" u="none" cap="all" baseline="0" dirty="0">
                        <a:solidFill>
                          <a:srgbClr val="0000FF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1" u="none" cap="all" baseline="0" dirty="0">
                        <a:solidFill>
                          <a:srgbClr val="0000FF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1" u="none" cap="all" baseline="0" dirty="0">
                          <a:solidFill>
                            <a:srgbClr val="0000FF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u="none" cap="all" baseline="0" dirty="0">
                          <a:solidFill>
                            <a:srgbClr val="0000FF"/>
                          </a:solidFill>
                          <a:latin typeface="Arial Black" panose="020B0A04020102020204" pitchFamily="34" charset="0"/>
                        </a:rPr>
                        <a:t>X</a:t>
                      </a:r>
                      <a:endParaRPr lang="LID4096" sz="1100" b="1" u="none" cap="all" baseline="0" dirty="0">
                        <a:solidFill>
                          <a:srgbClr val="0000FF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1" u="none" cap="all" baseline="0" dirty="0">
                        <a:solidFill>
                          <a:srgbClr val="0000FF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1" u="none" cap="all" baseline="0" dirty="0">
                        <a:solidFill>
                          <a:srgbClr val="0000FF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85331"/>
                  </a:ext>
                </a:extLst>
              </a:tr>
              <a:tr h="3043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0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4.1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800" b="0" u="none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Revisões finais do código e da tese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100" b="0" u="none" cap="all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03602"/>
                  </a:ext>
                </a:extLst>
              </a:tr>
              <a:tr h="3043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0" u="none" dirty="0">
                          <a:solidFill>
                            <a:schemeClr val="tx1"/>
                          </a:solidFill>
                          <a:effectLst/>
                          <a:latin typeface="Horley Old Style MT"/>
                          <a:ea typeface="Times New Roman" panose="02020603050405020304" pitchFamily="18" charset="0"/>
                        </a:rPr>
                        <a:t>4.2 </a:t>
                      </a:r>
                      <a:endParaRPr lang="pt-BR" sz="1400" b="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800" b="1" u="non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 Light (Headings)"/>
                          <a:ea typeface="Times New Roman" panose="02020603050405020304" pitchFamily="18" charset="0"/>
                        </a:rPr>
                        <a:t>Publicação de artigo científico </a:t>
                      </a:r>
                      <a:r>
                        <a:rPr lang="pt-BR" sz="1800" b="0" u="none" dirty="0">
                          <a:solidFill>
                            <a:schemeClr val="tx1"/>
                          </a:solidFill>
                          <a:effectLst/>
                          <a:latin typeface="Calibri Light (Headings)"/>
                          <a:ea typeface="Times New Roman" panose="02020603050405020304" pitchFamily="18" charset="0"/>
                        </a:rPr>
                        <a:t>em revista especializada (A1 e A2)</a:t>
                      </a:r>
                    </a:p>
                  </a:txBody>
                  <a:tcPr marL="137160" marR="4445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X</a:t>
                      </a:r>
                      <a:endParaRPr lang="LID4096" sz="1100" b="0" u="none" cap="all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100" b="0" u="none" cap="all" baseline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ea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1100" b="0" u="none" cap="all" baseline="0" dirty="0">
                        <a:solidFill>
                          <a:schemeClr val="tx1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56249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9B59827-CD3C-A2DD-036E-B817CC3B5A25}"/>
              </a:ext>
            </a:extLst>
          </p:cNvPr>
          <p:cNvSpPr txBox="1"/>
          <p:nvPr/>
        </p:nvSpPr>
        <p:spPr>
          <a:xfrm>
            <a:off x="270645" y="520135"/>
            <a:ext cx="2975699" cy="646331"/>
          </a:xfrm>
          <a:prstGeom prst="rect">
            <a:avLst/>
          </a:prstGeom>
          <a:solidFill>
            <a:srgbClr val="A7E8FF"/>
          </a:solidFill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Cronograma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6001B52-DF87-19B4-A287-9EDCF4C7A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080417"/>
              </p:ext>
            </p:extLst>
          </p:nvPr>
        </p:nvGraphicFramePr>
        <p:xfrm>
          <a:off x="9061241" y="786267"/>
          <a:ext cx="2488458" cy="478338"/>
        </p:xfrm>
        <a:graphic>
          <a:graphicData uri="http://schemas.openxmlformats.org/drawingml/2006/table">
            <a:tbl>
              <a:tblPr firstRow="1" firstCol="1" bandRow="1"/>
              <a:tblGrid>
                <a:gridCol w="336550">
                  <a:extLst>
                    <a:ext uri="{9D8B030D-6E8A-4147-A177-3AD203B41FA5}">
                      <a16:colId xmlns:a16="http://schemas.microsoft.com/office/drawing/2014/main" val="346558620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100529184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07300475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132592374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71848812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950464890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237964255"/>
                    </a:ext>
                  </a:extLst>
                </a:gridCol>
                <a:gridCol w="278658">
                  <a:extLst>
                    <a:ext uri="{9D8B030D-6E8A-4147-A177-3AD203B41FA5}">
                      <a16:colId xmlns:a16="http://schemas.microsoft.com/office/drawing/2014/main" val="504760087"/>
                    </a:ext>
                  </a:extLst>
                </a:gridCol>
              </a:tblGrid>
              <a:tr h="2391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2027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900" b="1" cap="all" baseline="0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2028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900" b="1" cap="all" baseline="0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latin typeface="+mn-lt"/>
                        </a:rPr>
                        <a:t>2029</a:t>
                      </a:r>
                      <a:endParaRPr lang="LID4096" sz="1400" b="1" dirty="0">
                        <a:latin typeface="+mn-lt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pt-BR" sz="900" b="1" cap="all" baseline="0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602210"/>
                  </a:ext>
                </a:extLst>
              </a:tr>
              <a:tr h="2391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pt-BR" sz="900" b="0" cap="all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º </a:t>
                      </a:r>
                      <a:r>
                        <a:rPr lang="pt-BR" sz="1050" b="0" cap="all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</a:t>
                      </a:r>
                      <a:endParaRPr lang="pt-BR" sz="1100" b="0" cap="all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</a:t>
                      </a:r>
                      <a:r>
                        <a:rPr lang="pt-BR" sz="100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º </a:t>
                      </a:r>
                      <a:r>
                        <a:rPr lang="pt-BR" sz="105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</a:t>
                      </a:r>
                      <a:endParaRPr lang="pt-BR" sz="1100" b="0" cap="all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pt-BR" sz="900" b="0" cap="all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º </a:t>
                      </a:r>
                      <a:r>
                        <a:rPr lang="pt-BR" sz="1050" b="0" cap="all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</a:t>
                      </a:r>
                      <a:endParaRPr lang="pt-BR" sz="1100" b="0" cap="all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</a:t>
                      </a:r>
                      <a:r>
                        <a:rPr lang="pt-BR" sz="100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º </a:t>
                      </a:r>
                      <a:r>
                        <a:rPr lang="pt-BR" sz="105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</a:t>
                      </a:r>
                      <a:endParaRPr lang="pt-BR" sz="1100" b="0" cap="all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pt-BR" sz="90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º </a:t>
                      </a:r>
                      <a:r>
                        <a:rPr lang="pt-BR" sz="105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</a:t>
                      </a:r>
                      <a:endParaRPr lang="pt-BR" sz="1100" b="0" cap="all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</a:t>
                      </a:r>
                      <a:r>
                        <a:rPr lang="pt-BR" sz="100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º </a:t>
                      </a:r>
                      <a:r>
                        <a:rPr lang="pt-BR" sz="105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</a:t>
                      </a:r>
                      <a:endParaRPr lang="pt-BR" sz="1100" b="0" cap="all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pt-BR" sz="90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º </a:t>
                      </a:r>
                      <a:r>
                        <a:rPr lang="pt-BR" sz="105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</a:t>
                      </a:r>
                      <a:endParaRPr lang="pt-BR" sz="1100" b="0" cap="all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pt-BR" sz="1400" b="1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</a:t>
                      </a:r>
                      <a:r>
                        <a:rPr lang="pt-BR" sz="100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º </a:t>
                      </a:r>
                      <a:r>
                        <a:rPr lang="pt-BR" sz="1050" b="0" cap="all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</a:t>
                      </a:r>
                      <a:endParaRPr lang="pt-BR" sz="1100" b="0" cap="all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482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7DA1A9-EDBB-E00C-8D79-32D7CFAFB260}"/>
              </a:ext>
            </a:extLst>
          </p:cNvPr>
          <p:cNvSpPr txBox="1"/>
          <p:nvPr/>
        </p:nvSpPr>
        <p:spPr>
          <a:xfrm>
            <a:off x="935315" y="4845871"/>
            <a:ext cx="107170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/>
              <a:t>OpenFOAM  - Notes on Computational Fluid Dynamics (CFD) - </a:t>
            </a:r>
            <a:r>
              <a:rPr lang="en-GB" sz="1400" b="1" dirty="0"/>
              <a:t>C. J. Greenshields &amp; H. G. Weller (2022)</a:t>
            </a:r>
            <a:endParaRPr lang="en-GB" sz="1400" b="1" cap="all" dirty="0">
              <a:hlinkClick r:id="rId2"/>
            </a:endParaRPr>
          </a:p>
          <a:p>
            <a:pPr algn="r"/>
            <a:r>
              <a:rPr lang="pt-BR" sz="1200" dirty="0">
                <a:latin typeface="Calibri(body)"/>
                <a:ea typeface="Calibri" panose="020F0502020204030204" pitchFamily="34" charset="0"/>
                <a:cs typeface="Times New Roman" panose="02020603050405020304" pitchFamily="18" charset="0"/>
              </a:rPr>
              <a:t>Disponível em:  </a:t>
            </a:r>
            <a:r>
              <a:rPr lang="en-GB" sz="1200" cap="all" dirty="0">
                <a:hlinkClick r:id="rId2"/>
              </a:rPr>
              <a:t>https://doc.cfd.direct/notes/cfd-general-principles/</a:t>
            </a:r>
            <a:r>
              <a:rPr lang="en-GB" sz="1200" cap="all" dirty="0"/>
              <a:t>  </a:t>
            </a:r>
            <a:r>
              <a:rPr lang="en-US" sz="1200" dirty="0">
                <a:latin typeface="Calibri(body)"/>
                <a:ea typeface="Calibri" panose="020F0502020204030204" pitchFamily="34" charset="0"/>
                <a:cs typeface="Times New Roman" panose="02020603050405020304" pitchFamily="18" charset="0"/>
              </a:rPr>
              <a:t>Acesso em: 05/2026</a:t>
            </a:r>
            <a:endParaRPr lang="pt-BR" sz="1200" dirty="0">
              <a:latin typeface="Calibri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GB" sz="1400" b="1" dirty="0"/>
              <a:t>PEST - Calibration and uncertainty analysis for complex environmental models. Doherty, J., 2015. 227pp. </a:t>
            </a:r>
          </a:p>
          <a:p>
            <a:pPr algn="r"/>
            <a:r>
              <a:rPr lang="pt-BR" sz="1200" dirty="0">
                <a:latin typeface="Calibri(body)"/>
                <a:ea typeface="Calibri" panose="020F0502020204030204" pitchFamily="34" charset="0"/>
                <a:cs typeface="Times New Roman" panose="02020603050405020304" pitchFamily="18" charset="0"/>
              </a:rPr>
              <a:t>Disponível em: </a:t>
            </a:r>
            <a:r>
              <a:rPr lang="en-GB" sz="1200" dirty="0">
                <a:hlinkClick r:id="rId3"/>
              </a:rPr>
              <a:t>https://hydrosymple.com/wp-content/uploads/2025/08/pest_book.pdf</a:t>
            </a:r>
            <a:r>
              <a:rPr lang="en-GB" sz="1200" dirty="0"/>
              <a:t> </a:t>
            </a:r>
            <a:r>
              <a:rPr lang="en-US" sz="1200" dirty="0">
                <a:latin typeface="Calibri(body)"/>
                <a:ea typeface="Calibri" panose="020F0502020204030204" pitchFamily="34" charset="0"/>
                <a:cs typeface="Times New Roman" panose="02020603050405020304" pitchFamily="18" charset="0"/>
              </a:rPr>
              <a:t>Acesso em: 05/2026</a:t>
            </a:r>
            <a:endParaRPr lang="en-GB" sz="1200" b="1" dirty="0"/>
          </a:p>
          <a:p>
            <a:pPr algn="r"/>
            <a:r>
              <a:rPr lang="en-GB" sz="1400" b="1" dirty="0"/>
              <a:t>Uncertainty-Aware Design of Dynamic Metamaterials for Vibration Control</a:t>
            </a:r>
            <a:r>
              <a:rPr lang="en-GB" sz="1400" b="1" cap="all" dirty="0"/>
              <a:t> · 2026</a:t>
            </a:r>
            <a:endParaRPr lang="pt-BR" sz="1400" b="1" dirty="0">
              <a:hlinkClick r:id="rId4"/>
            </a:endParaRPr>
          </a:p>
          <a:p>
            <a:pPr algn="r"/>
            <a:r>
              <a:rPr lang="pt-BR" sz="1200" dirty="0">
                <a:latin typeface="Calibri(body)"/>
                <a:ea typeface="Calibri" panose="020F0502020204030204" pitchFamily="34" charset="0"/>
                <a:cs typeface="Times New Roman" panose="02020603050405020304" pitchFamily="18" charset="0"/>
              </a:rPr>
              <a:t>Disponível em:  </a:t>
            </a:r>
            <a:r>
              <a:rPr lang="LID4096" sz="1200" dirty="0">
                <a:hlinkClick r:id="rId4"/>
              </a:rPr>
              <a:t>https://mechanistlab.com/documents/Ruiz_WhitePaper_MetamaterialUQ.pdf</a:t>
            </a:r>
            <a:r>
              <a:rPr lang="pt-BR" sz="1200" dirty="0"/>
              <a:t> </a:t>
            </a:r>
            <a:r>
              <a:rPr lang="en-US" sz="1200" dirty="0">
                <a:latin typeface="Calibri(body)"/>
                <a:ea typeface="Calibri" panose="020F0502020204030204" pitchFamily="34" charset="0"/>
                <a:cs typeface="Times New Roman" panose="02020603050405020304" pitchFamily="18" charset="0"/>
              </a:rPr>
              <a:t>Acesso em: 05/2026</a:t>
            </a:r>
            <a:endParaRPr lang="LID4096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146A5-CAA9-DF03-639E-04E70CD3B603}"/>
              </a:ext>
            </a:extLst>
          </p:cNvPr>
          <p:cNvSpPr txBox="1"/>
          <p:nvPr/>
        </p:nvSpPr>
        <p:spPr>
          <a:xfrm>
            <a:off x="269125" y="5009956"/>
            <a:ext cx="2975699" cy="1472235"/>
          </a:xfrm>
          <a:prstGeom prst="rect">
            <a:avLst/>
          </a:prstGeom>
          <a:solidFill>
            <a:srgbClr val="A7E8FF"/>
          </a:solidFill>
        </p:spPr>
        <p:txBody>
          <a:bodyPr wrap="square" rtlCol="0" anchor="ctr" anchorCtr="0">
            <a:noAutofit/>
          </a:bodyPr>
          <a:lstStyle>
            <a:defPPr>
              <a:defRPr lang="LID4096"/>
            </a:defPPr>
            <a:lvl1pPr>
              <a:defRPr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Referências Bibliográficas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3A24EC-EC1F-E67D-EE9E-27E2E4DED42E}"/>
              </a:ext>
            </a:extLst>
          </p:cNvPr>
          <p:cNvSpPr txBox="1"/>
          <p:nvPr/>
        </p:nvSpPr>
        <p:spPr>
          <a:xfrm>
            <a:off x="2206752" y="6258183"/>
            <a:ext cx="8662343" cy="327882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r"/>
            <a:r>
              <a:rPr lang="pt-BR" sz="2400" b="1" dirty="0">
                <a:solidFill>
                  <a:srgbClr val="0000FF"/>
                </a:solidFill>
                <a:effectLst/>
                <a:latin typeface="Horley Old Style MT"/>
                <a:ea typeface="MS Gothic" panose="020B0609070205080204" pitchFamily="49" charset="-128"/>
                <a:cs typeface="Times New Roman" panose="02020603050405020304" pitchFamily="18" charset="0"/>
              </a:rPr>
              <a:t>Obrigado!</a:t>
            </a:r>
            <a:endParaRPr lang="LID4096" sz="2400" dirty="0">
              <a:solidFill>
                <a:srgbClr val="0000FF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621866A-4195-1C7E-A8CF-03535F532D38}"/>
              </a:ext>
            </a:extLst>
          </p:cNvPr>
          <p:cNvGrpSpPr>
            <a:grpSpLocks noChangeAspect="1"/>
          </p:cNvGrpSpPr>
          <p:nvPr/>
        </p:nvGrpSpPr>
        <p:grpSpPr>
          <a:xfrm>
            <a:off x="10852269" y="6419257"/>
            <a:ext cx="1396713" cy="485569"/>
            <a:chOff x="9913473" y="579416"/>
            <a:chExt cx="2101323" cy="72963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4B59494-1BE8-1CEF-DD55-64EB575DD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72566" y="579416"/>
              <a:ext cx="1069563" cy="38004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3CEDCE-6F2C-57D7-B6CF-9B79018C4512}"/>
                </a:ext>
              </a:extLst>
            </p:cNvPr>
            <p:cNvSpPr txBox="1"/>
            <p:nvPr/>
          </p:nvSpPr>
          <p:spPr>
            <a:xfrm>
              <a:off x="9913473" y="846573"/>
              <a:ext cx="2101323" cy="462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pt-BR" sz="1400" dirty="0">
                  <a:solidFill>
                    <a:srgbClr val="000000"/>
                  </a:solidFill>
                  <a:effectLst/>
                  <a:latin typeface="Horley Old Style MT"/>
                  <a:ea typeface="MS Gothic" panose="020B0609070205080204" pitchFamily="49" charset="-128"/>
                  <a:cs typeface="Times New Roman" panose="02020603050405020304" pitchFamily="18" charset="0"/>
                </a:rPr>
                <a:t>Guaratinguetá</a:t>
              </a:r>
              <a:endParaRPr lang="LID4096" sz="1400" dirty="0"/>
            </a:p>
          </p:txBody>
        </p:sp>
      </p:grpSp>
      <p:sp>
        <p:nvSpPr>
          <p:cNvPr id="14" name="Retângulo 83">
            <a:extLst>
              <a:ext uri="{FF2B5EF4-FFF2-40B4-BE49-F238E27FC236}">
                <a16:creationId xmlns:a16="http://schemas.microsoft.com/office/drawing/2014/main" id="{B6842D67-A25B-174C-A1D6-818E845CD542}"/>
              </a:ext>
            </a:extLst>
          </p:cNvPr>
          <p:cNvSpPr>
            <a:spLocks noChangeAspect="1"/>
          </p:cNvSpPr>
          <p:nvPr/>
        </p:nvSpPr>
        <p:spPr>
          <a:xfrm>
            <a:off x="11027121" y="6419257"/>
            <a:ext cx="1164878" cy="438544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 b="1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86D4E-7A79-CACB-9A19-C1D305721DBD}"/>
              </a:ext>
            </a:extLst>
          </p:cNvPr>
          <p:cNvSpPr txBox="1"/>
          <p:nvPr/>
        </p:nvSpPr>
        <p:spPr>
          <a:xfrm>
            <a:off x="1" y="365"/>
            <a:ext cx="6591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>
                    <a:lumMod val="65000"/>
                  </a:schemeClr>
                </a:solidFill>
              </a:rPr>
              <a:t>Processo Seletivo – Doutorado Engenharia : 2º semestre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C31828-3082-0F68-C1F5-9285B7BDFC64}"/>
              </a:ext>
            </a:extLst>
          </p:cNvPr>
          <p:cNvSpPr/>
          <p:nvPr/>
        </p:nvSpPr>
        <p:spPr>
          <a:xfrm>
            <a:off x="5984842" y="1725635"/>
            <a:ext cx="2620774" cy="236474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36460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4527</TotalTime>
  <Words>462</Words>
  <Application>Microsoft Office PowerPoint</Application>
  <PresentationFormat>Widescreen</PresentationFormat>
  <Paragraphs>100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6" baseType="lpstr">
      <vt:lpstr>Arial</vt:lpstr>
      <vt:lpstr>Arial Black</vt:lpstr>
      <vt:lpstr>Calibri</vt:lpstr>
      <vt:lpstr>Calibri (Body)</vt:lpstr>
      <vt:lpstr>Calibri Light</vt:lpstr>
      <vt:lpstr>Calibri Light (Headings)</vt:lpstr>
      <vt:lpstr>Calibri(body)</vt:lpstr>
      <vt:lpstr>Cambria Math</vt:lpstr>
      <vt:lpstr>Franklin Gothic Heavy</vt:lpstr>
      <vt:lpstr>Horley Old Style MT</vt:lpstr>
      <vt:lpstr>LMRoman12-Regular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378</cp:revision>
  <dcterms:created xsi:type="dcterms:W3CDTF">2026-04-30T17:56:17Z</dcterms:created>
  <dcterms:modified xsi:type="dcterms:W3CDTF">2026-06-24T17:47:02Z</dcterms:modified>
</cp:coreProperties>
</file>