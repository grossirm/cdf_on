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9" r:id="rId2"/>
  </p:sldIdLst>
  <p:sldSz cx="12192000" cy="6858000"/>
  <p:notesSz cx="6858000" cy="9144000"/>
  <p:defaultTextStyle>
    <a:defPPr>
      <a:defRPr lang="LID4096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7E7FF"/>
    <a:srgbClr val="0000FF"/>
    <a:srgbClr val="C5C5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6" d="100"/>
          <a:sy n="106" d="100"/>
        </p:scale>
        <p:origin x="672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733D61-E0E5-6C72-C54F-7628B0F003F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E62186D-C881-9373-1998-342384F108B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LID4096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4501D0A-EF62-285D-9183-65966AA4DA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4686FF-3DC0-4D03-9102-64E826D8EE6E}" type="datetimeFigureOut">
              <a:rPr lang="LID4096" smtClean="0"/>
              <a:t>06/24/2026</a:t>
            </a:fld>
            <a:endParaRPr lang="LID4096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8B95C0A-264B-01D6-C9EE-B5CF742572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268D4BD-37AF-ECAC-43E7-EBA62764A3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B3E1AE-01EE-46B2-B44F-34DFC3E3C67A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74352468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544E9C-37E5-C451-30FE-57F941ECD5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578DD0-929E-5524-E292-0D67AF6FEF9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F76DC0C-3DEC-D6A0-C747-5D2649827B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4686FF-3DC0-4D03-9102-64E826D8EE6E}" type="datetimeFigureOut">
              <a:rPr lang="LID4096" smtClean="0"/>
              <a:t>06/24/2026</a:t>
            </a:fld>
            <a:endParaRPr lang="LID4096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B6B1A0B-F63C-87F2-1818-20FC3B87DE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1C0E64-C8F3-E549-A522-AB53B8D8A8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B3E1AE-01EE-46B2-B44F-34DFC3E3C67A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3044557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98F187-C830-6EC9-2F9C-57EE7EF880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1C2355B-5837-559F-0C62-BE8137F8431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6485A62-9FD1-43AF-5BB6-DD4EEE21F6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4686FF-3DC0-4D03-9102-64E826D8EE6E}" type="datetimeFigureOut">
              <a:rPr lang="LID4096" smtClean="0"/>
              <a:t>06/24/2026</a:t>
            </a:fld>
            <a:endParaRPr lang="LID4096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79CC27-CB3D-C5E0-B2E7-54885B352C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731110E-B2BB-5AF3-1E85-194A80B882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B3E1AE-01EE-46B2-B44F-34DFC3E3C67A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4093811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F42DA8-6400-5744-5B0E-F16C12F866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2E0E0E-E08A-BB9F-67F0-9DC9B677D35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1D095A8-9B5D-6503-FBBB-5AA1E45B393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67A78AA-D7C3-06C3-1312-6E4AE3FD8B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4686FF-3DC0-4D03-9102-64E826D8EE6E}" type="datetimeFigureOut">
              <a:rPr lang="LID4096" smtClean="0"/>
              <a:t>06/24/2026</a:t>
            </a:fld>
            <a:endParaRPr lang="LID4096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F6A2628-24CB-5C9A-373C-086B5291FE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ECDA631-EAEB-2498-6B81-8A16F716C3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B3E1AE-01EE-46B2-B44F-34DFC3E3C67A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6270237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A550CB-0CCD-0344-DA7D-906CE2674D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38A643C-66E8-8188-1C7A-D30D4EC679A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E375E80-CD44-F8AE-4D08-B065D0216DA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868B0C4-D33D-82E4-379C-AA5510AF35F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B0AC3E1-2ABB-7DA9-308D-46B6D1A8359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9670E15-CC1F-4523-43BA-5EB26CFE63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4686FF-3DC0-4D03-9102-64E826D8EE6E}" type="datetimeFigureOut">
              <a:rPr lang="LID4096" smtClean="0"/>
              <a:t>06/24/2026</a:t>
            </a:fld>
            <a:endParaRPr lang="LID4096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815CA21-DB4C-1D0F-9C98-7B19CC5CEC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569FEFD-5C23-06F3-8415-9CA79630A1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B3E1AE-01EE-46B2-B44F-34DFC3E3C67A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87695097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753254-56B4-E122-B071-9AAAA6C006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D4792F3-89DE-DCC4-8940-C1BC35DBF9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4686FF-3DC0-4D03-9102-64E826D8EE6E}" type="datetimeFigureOut">
              <a:rPr lang="LID4096" smtClean="0"/>
              <a:t>06/24/2026</a:t>
            </a:fld>
            <a:endParaRPr lang="LID4096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E672E0B-1915-463E-8D77-582F8490AA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BC7BB10-7AA7-F13F-ECC4-1C3955CFCD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B3E1AE-01EE-46B2-B44F-34DFC3E3C67A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0482178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8AE4944-B874-CB00-7F5B-D9366F1D37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4686FF-3DC0-4D03-9102-64E826D8EE6E}" type="datetimeFigureOut">
              <a:rPr lang="LID4096" smtClean="0"/>
              <a:t>06/24/2026</a:t>
            </a:fld>
            <a:endParaRPr lang="LID4096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626A870-DF66-8291-6BE4-8B326AE803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DDA30FE-B4DF-2BCD-0659-F362BD280B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B3E1AE-01EE-46B2-B44F-34DFC3E3C67A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03649882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D72871-9BF2-8AC9-C213-7B3FBD7913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38457D-B644-ADF2-1719-2F6DE118790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14A7A3F-C2B5-AB32-3955-D57273D8A12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63E3201-1425-77FC-2190-154B84E0EC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4686FF-3DC0-4D03-9102-64E826D8EE6E}" type="datetimeFigureOut">
              <a:rPr lang="LID4096" smtClean="0"/>
              <a:t>06/24/2026</a:t>
            </a:fld>
            <a:endParaRPr lang="LID4096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4B92529-4051-6BE1-1A8B-5C5FAB01E4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249CB76-2937-C5EE-1D1F-9A7DC4ED26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B3E1AE-01EE-46B2-B44F-34DFC3E3C67A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863209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ECA7D7-4133-7659-80BA-7809F2C383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B7A0E90-DD7E-EC6A-4635-8E2C7A4886B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LID4096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DA4488B-41A4-D683-4735-EE7231C873F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DEEA442-CA3D-DA99-ED43-510E7EE102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4686FF-3DC0-4D03-9102-64E826D8EE6E}" type="datetimeFigureOut">
              <a:rPr lang="LID4096" smtClean="0"/>
              <a:t>06/24/2026</a:t>
            </a:fld>
            <a:endParaRPr lang="LID4096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0CCDBE1-E250-F438-FC01-C7EFB503C3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CEB16D9-C319-E976-E573-77200E6E58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B3E1AE-01EE-46B2-B44F-34DFC3E3C67A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09424253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82A14D-1925-799F-3060-4D025AFA61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B1800ED-E441-7A1A-A3C8-7F594EB0B11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79FB6C-19C3-686A-B427-D0FA27EB7D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4686FF-3DC0-4D03-9102-64E826D8EE6E}" type="datetimeFigureOut">
              <a:rPr lang="LID4096" smtClean="0"/>
              <a:t>06/24/2026</a:t>
            </a:fld>
            <a:endParaRPr lang="LID4096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81CC511-C983-37CE-12A7-5E757C04DB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59A466F-0AE7-4B18-582D-155846CE73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B3E1AE-01EE-46B2-B44F-34DFC3E3C67A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65282475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8EC23B1-CC57-4AA7-1404-8F12F792222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A575EED-0C59-B74D-3B0D-D8443287C0B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CF28E20-2C3C-5DFD-0DF6-2107B86722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4686FF-3DC0-4D03-9102-64E826D8EE6E}" type="datetimeFigureOut">
              <a:rPr lang="LID4096" smtClean="0"/>
              <a:t>06/24/2026</a:t>
            </a:fld>
            <a:endParaRPr lang="LID4096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427F950-1EC5-B858-83E8-ECAA42DD8E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3FD305C-B816-E5B9-7931-FC4DCBF1C4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B3E1AE-01EE-46B2-B44F-34DFC3E3C67A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8783479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E2E029C-018F-A872-5F6F-36A65D8116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5DE4F39-8059-F351-237E-C5D4AB0BCF8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E757534-6C95-8156-4758-F655ACB0BB0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D4686FF-3DC0-4D03-9102-64E826D8EE6E}" type="datetimeFigureOut">
              <a:rPr lang="LID4096" smtClean="0"/>
              <a:t>06/24/2026</a:t>
            </a:fld>
            <a:endParaRPr lang="LID4096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835FFD-A04D-B66E-4D58-AED7887AF7D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LID4096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879332-3623-35DD-6626-8EF3F020032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EB3E1AE-01EE-46B2-B44F-34DFC3E3C67A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797749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LID4096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AD2A08B1-A190-D003-C04B-6AD59CC8ECFB}"/>
              </a:ext>
            </a:extLst>
          </p:cNvPr>
          <p:cNvSpPr txBox="1"/>
          <p:nvPr/>
        </p:nvSpPr>
        <p:spPr>
          <a:xfrm>
            <a:off x="1194324" y="4059828"/>
            <a:ext cx="8683011" cy="2440259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tx1"/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 wrap="square">
            <a:noAutofit/>
          </a:bodyPr>
          <a:lstStyle/>
          <a:p>
            <a:pPr>
              <a:lnSpc>
                <a:spcPts val="1650"/>
              </a:lnSpc>
              <a:buNone/>
            </a:pPr>
            <a:endParaRPr lang="en-GB" sz="1700" b="1" u="sng" dirty="0">
              <a:solidFill>
                <a:srgbClr val="FF0000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0FE93DD-92CF-7D0A-840D-BB3956AFD79B}"/>
              </a:ext>
            </a:extLst>
          </p:cNvPr>
          <p:cNvSpPr txBox="1"/>
          <p:nvPr/>
        </p:nvSpPr>
        <p:spPr>
          <a:xfrm>
            <a:off x="5385587" y="605688"/>
            <a:ext cx="4491748" cy="2440259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tx1"/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 wrap="square">
            <a:noAutofit/>
          </a:bodyPr>
          <a:lstStyle/>
          <a:p>
            <a:pPr>
              <a:lnSpc>
                <a:spcPts val="1650"/>
              </a:lnSpc>
              <a:buNone/>
            </a:pPr>
            <a:endParaRPr lang="en-GB" sz="1700" b="1" u="sng" dirty="0">
              <a:solidFill>
                <a:srgbClr val="FF0000"/>
              </a:solidFill>
              <a:effectLst/>
              <a:latin typeface="Consolas" panose="020B0609020204030204" pitchFamily="49" charset="0"/>
            </a:endParaRP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BF5732ED-22FF-0A9C-4B67-CAD17C37947C}"/>
              </a:ext>
            </a:extLst>
          </p:cNvPr>
          <p:cNvGrpSpPr/>
          <p:nvPr/>
        </p:nvGrpSpPr>
        <p:grpSpPr>
          <a:xfrm>
            <a:off x="1194324" y="607022"/>
            <a:ext cx="8773542" cy="2438925"/>
            <a:chOff x="415726" y="398794"/>
            <a:chExt cx="8773542" cy="2438925"/>
          </a:xfrm>
        </p:grpSpPr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AE74B8B4-CD56-EB47-F8F7-FF9BAB8BE169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415726" y="1301326"/>
              <a:ext cx="1417376" cy="1536393"/>
            </a:xfrm>
            <a:prstGeom prst="rect">
              <a:avLst/>
            </a:prstGeom>
            <a:ln>
              <a:solidFill>
                <a:schemeClr val="tx1"/>
              </a:solidFill>
            </a:ln>
            <a:effectLst>
              <a:outerShdw blurRad="50800" dist="38100" dir="8100000" algn="tr" rotWithShape="0">
                <a:prstClr val="black">
                  <a:alpha val="40000"/>
                </a:prstClr>
              </a:outerShdw>
            </a:effectLst>
          </p:spPr>
        </p:pic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04348C19-D0A1-ABB3-7419-E5055972BF54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925979" y="1301327"/>
              <a:ext cx="2533045" cy="1536392"/>
            </a:xfrm>
            <a:prstGeom prst="rect">
              <a:avLst/>
            </a:prstGeom>
            <a:ln>
              <a:solidFill>
                <a:schemeClr val="tx1"/>
              </a:solidFill>
            </a:ln>
            <a:effectLst>
              <a:outerShdw blurRad="50800" dist="38100" dir="8100000" algn="tr" rotWithShape="0">
                <a:prstClr val="black">
                  <a:alpha val="40000"/>
                </a:prstClr>
              </a:outerShdw>
            </a:effectLst>
          </p:spPr>
        </p:pic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BF93DBFC-DC5A-999D-DADD-BFFF66AC3D48}"/>
                </a:ext>
              </a:extLst>
            </p:cNvPr>
            <p:cNvSpPr txBox="1"/>
            <p:nvPr/>
          </p:nvSpPr>
          <p:spPr>
            <a:xfrm>
              <a:off x="4708723" y="1301326"/>
              <a:ext cx="4480545" cy="1536393"/>
            </a:xfrm>
            <a:prstGeom prst="rect">
              <a:avLst/>
            </a:prstGeom>
            <a:noFill/>
          </p:spPr>
          <p:txBody>
            <a:bodyPr wrap="square" lIns="0" tIns="0" rIns="0" bIns="0" anchor="ctr" anchorCtr="0">
              <a:noAutofit/>
            </a:bodyPr>
            <a:lstStyle/>
            <a:p>
              <a:r>
                <a:rPr lang="en-US" sz="2400" b="1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Horley Old Style"/>
                </a:rPr>
                <a:t>PIL </a:t>
              </a:r>
              <a:r>
                <a:rPr lang="en-US" sz="2400" b="1" dirty="0">
                  <a:solidFill>
                    <a:srgbClr val="FF000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Horley Old Style"/>
                </a:rPr>
                <a:t>Path</a:t>
              </a:r>
              <a:r>
                <a:rPr lang="en-US" sz="2000" dirty="0">
                  <a:latin typeface="Horley Old Style"/>
                </a:rPr>
                <a:t> - </a:t>
              </a:r>
              <a:r>
                <a:rPr lang="pt-PT" sz="2000" dirty="0">
                  <a:latin typeface="Horley Old Style"/>
                </a:rPr>
                <a:t>Biblioteca de imagens Python</a:t>
              </a:r>
            </a:p>
            <a:p>
              <a:r>
                <a:rPr lang="en-GB" sz="2400" b="1" dirty="0">
                  <a:solidFill>
                    <a:srgbClr val="24292E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Horley Old Style"/>
                </a:rPr>
                <a:t>Latex</a:t>
              </a:r>
              <a:r>
                <a:rPr lang="en-GB" sz="2400" b="1" dirty="0">
                  <a:solidFill>
                    <a:srgbClr val="FF000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Horley Old Style"/>
                </a:rPr>
                <a:t>OCR</a:t>
              </a:r>
              <a:r>
                <a:rPr lang="en-US" sz="2000" b="1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Horley Old Style"/>
                </a:rPr>
                <a:t> </a:t>
              </a:r>
              <a:r>
                <a:rPr lang="en-US" sz="2000" dirty="0">
                  <a:latin typeface="Horley Old Style"/>
                </a:rPr>
                <a:t>- </a:t>
              </a:r>
              <a:r>
                <a:rPr lang="pt-BR" sz="2000" b="1" u="sng" dirty="0">
                  <a:latin typeface="Horley Old Style"/>
                </a:rPr>
                <a:t>Reconhecedor d caracteres </a:t>
              </a:r>
              <a:r>
                <a:rPr lang="pt-BR" sz="2200" b="1" u="sng" dirty="0">
                  <a:latin typeface="Horley Old Style"/>
                </a:rPr>
                <a:t> </a:t>
              </a:r>
            </a:p>
            <a:p>
              <a:endParaRPr lang="pt-BR" sz="600" u="sng" dirty="0">
                <a:latin typeface="Horley Old Style"/>
              </a:endParaRPr>
            </a:p>
            <a:p>
              <a:pPr marL="342900" indent="-342900">
                <a:buFontTx/>
                <a:buChar char="-"/>
              </a:pPr>
              <a:r>
                <a:rPr lang="pt-BR" sz="2000" b="1" dirty="0">
                  <a:solidFill>
                    <a:srgbClr val="FF0000"/>
                  </a:solidFill>
                  <a:latin typeface="Horley Old Style"/>
                </a:rPr>
                <a:t>Converte</a:t>
              </a:r>
              <a:r>
                <a:rPr lang="pt-BR" sz="2000" b="1" dirty="0">
                  <a:latin typeface="Horley Old Style"/>
                </a:rPr>
                <a:t> </a:t>
              </a:r>
              <a:r>
                <a:rPr lang="pt-BR" sz="2000" b="1" dirty="0">
                  <a:solidFill>
                    <a:srgbClr val="FF0000"/>
                  </a:solidFill>
                  <a:latin typeface="Horley Old Style"/>
                </a:rPr>
                <a:t>imagens</a:t>
              </a:r>
              <a:r>
                <a:rPr lang="pt-BR" sz="2000" dirty="0">
                  <a:latin typeface="Horley Old Style"/>
                </a:rPr>
                <a:t>, documentos (PDF) digitalizados e fotos </a:t>
              </a:r>
              <a:r>
                <a:rPr lang="pt-BR" sz="2000" b="1" dirty="0">
                  <a:solidFill>
                    <a:srgbClr val="FF0000"/>
                  </a:solidFill>
                  <a:latin typeface="Horley Old Style"/>
                </a:rPr>
                <a:t>... em texto</a:t>
              </a:r>
              <a:endParaRPr lang="en-US" sz="2000" b="1" dirty="0">
                <a:solidFill>
                  <a:srgbClr val="FF0000"/>
                </a:solidFill>
                <a:latin typeface="Horley Old Style"/>
              </a:endParaRPr>
            </a:p>
          </p:txBody>
        </p:sp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EE5D6E43-6BD3-89FC-1AAB-E8626A86A321}"/>
                </a:ext>
              </a:extLst>
            </p:cNvPr>
            <p:cNvSpPr txBox="1"/>
            <p:nvPr/>
          </p:nvSpPr>
          <p:spPr>
            <a:xfrm>
              <a:off x="415727" y="398794"/>
              <a:ext cx="4047631" cy="790791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  <a:effectLst>
              <a:outerShdw blurRad="50800" dist="38100" dir="8100000" algn="tr" rotWithShape="0">
                <a:prstClr val="black">
                  <a:alpha val="40000"/>
                </a:prstClr>
              </a:outerShdw>
            </a:effectLst>
          </p:spPr>
          <p:txBody>
            <a:bodyPr wrap="square">
              <a:noAutofit/>
            </a:bodyPr>
            <a:lstStyle/>
            <a:p>
              <a:pPr>
                <a:lnSpc>
                  <a:spcPts val="1650"/>
                </a:lnSpc>
                <a:buNone/>
              </a:pPr>
              <a:r>
                <a:rPr lang="en-GB" sz="1700" b="0" dirty="0">
                  <a:solidFill>
                    <a:srgbClr val="D73A49"/>
                  </a:solidFill>
                  <a:effectLst/>
                  <a:latin typeface="Consolas" panose="020B0609020204030204" pitchFamily="49" charset="0"/>
                </a:rPr>
                <a:t>from</a:t>
              </a:r>
              <a:r>
                <a:rPr lang="en-GB" sz="1700" b="0" dirty="0">
                  <a:solidFill>
                    <a:srgbClr val="24292E"/>
                  </a:solidFill>
                  <a:effectLst/>
                  <a:latin typeface="Consolas" panose="020B0609020204030204" pitchFamily="49" charset="0"/>
                </a:rPr>
                <a:t> </a:t>
              </a:r>
              <a:r>
                <a:rPr lang="en-GB" sz="1700" b="1" dirty="0">
                  <a:solidFill>
                    <a:srgbClr val="24292E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onsolas" panose="020B0609020204030204" pitchFamily="49" charset="0"/>
                </a:rPr>
                <a:t>path</a:t>
              </a:r>
              <a:r>
                <a:rPr lang="en-GB" sz="1700" b="0" dirty="0">
                  <a:solidFill>
                    <a:srgbClr val="24292E"/>
                  </a:solidFill>
                  <a:effectLst/>
                  <a:latin typeface="Consolas" panose="020B0609020204030204" pitchFamily="49" charset="0"/>
                </a:rPr>
                <a:t>lib import </a:t>
              </a:r>
              <a:r>
                <a:rPr lang="en-GB" sz="1700" b="1" dirty="0">
                  <a:solidFill>
                    <a:srgbClr val="FF0000"/>
                  </a:solidFill>
                  <a:effectLst/>
                  <a:latin typeface="Consolas" panose="020B0609020204030204" pitchFamily="49" charset="0"/>
                </a:rPr>
                <a:t>Path </a:t>
              </a:r>
            </a:p>
            <a:p>
              <a:pPr>
                <a:lnSpc>
                  <a:spcPts val="1650"/>
                </a:lnSpc>
                <a:buNone/>
              </a:pPr>
              <a:r>
                <a:rPr lang="en-GB" sz="1700" b="0" dirty="0">
                  <a:solidFill>
                    <a:srgbClr val="D73A49"/>
                  </a:solidFill>
                  <a:effectLst/>
                  <a:latin typeface="Consolas" panose="020B0609020204030204" pitchFamily="49" charset="0"/>
                </a:rPr>
                <a:t>from</a:t>
              </a:r>
              <a:r>
                <a:rPr lang="en-GB" sz="1700" b="0" dirty="0">
                  <a:solidFill>
                    <a:srgbClr val="24292E"/>
                  </a:solidFill>
                  <a:effectLst/>
                  <a:latin typeface="Consolas" panose="020B0609020204030204" pitchFamily="49" charset="0"/>
                </a:rPr>
                <a:t> </a:t>
              </a:r>
              <a:r>
                <a:rPr lang="en-GB" sz="1700" b="1" dirty="0">
                  <a:solidFill>
                    <a:srgbClr val="24292E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onsolas" panose="020B0609020204030204" pitchFamily="49" charset="0"/>
                </a:rPr>
                <a:t>PIL</a:t>
              </a:r>
              <a:r>
                <a:rPr lang="en-GB" sz="1700" b="0" dirty="0">
                  <a:solidFill>
                    <a:srgbClr val="24292E"/>
                  </a:solidFill>
                  <a:effectLst/>
                  <a:latin typeface="Consolas" panose="020B0609020204030204" pitchFamily="49" charset="0"/>
                </a:rPr>
                <a:t> import </a:t>
              </a:r>
              <a:r>
                <a:rPr lang="en-GB" sz="1700" b="1" dirty="0">
                  <a:solidFill>
                    <a:srgbClr val="FF0000"/>
                  </a:solidFill>
                  <a:effectLst/>
                  <a:latin typeface="Consolas" panose="020B0609020204030204" pitchFamily="49" charset="0"/>
                </a:rPr>
                <a:t>Image </a:t>
              </a:r>
            </a:p>
            <a:p>
              <a:pPr>
                <a:lnSpc>
                  <a:spcPts val="1650"/>
                </a:lnSpc>
                <a:buNone/>
              </a:pPr>
              <a:r>
                <a:rPr lang="en-GB" sz="1700" b="0" dirty="0">
                  <a:solidFill>
                    <a:srgbClr val="D73A49"/>
                  </a:solidFill>
                  <a:effectLst/>
                  <a:latin typeface="Consolas" panose="020B0609020204030204" pitchFamily="49" charset="0"/>
                </a:rPr>
                <a:t>from</a:t>
              </a:r>
              <a:r>
                <a:rPr lang="en-GB" sz="1700" b="0" dirty="0">
                  <a:solidFill>
                    <a:srgbClr val="24292E"/>
                  </a:solidFill>
                  <a:effectLst/>
                  <a:latin typeface="Consolas" panose="020B0609020204030204" pitchFamily="49" charset="0"/>
                </a:rPr>
                <a:t> </a:t>
              </a:r>
              <a:r>
                <a:rPr lang="en-GB" sz="1700" b="0" dirty="0">
                  <a:solidFill>
                    <a:srgbClr val="005CC5"/>
                  </a:solidFill>
                  <a:effectLst/>
                  <a:latin typeface="Consolas" panose="020B0609020204030204" pitchFamily="49" charset="0"/>
                </a:rPr>
                <a:t>pix2tex</a:t>
              </a:r>
              <a:r>
                <a:rPr lang="en-GB" sz="1700" b="0" dirty="0">
                  <a:solidFill>
                    <a:srgbClr val="24292E"/>
                  </a:solidFill>
                  <a:effectLst/>
                  <a:latin typeface="Consolas" panose="020B0609020204030204" pitchFamily="49" charset="0"/>
                </a:rPr>
                <a:t>.</a:t>
              </a:r>
              <a:r>
                <a:rPr lang="en-GB" sz="1700" b="0" dirty="0">
                  <a:solidFill>
                    <a:srgbClr val="005CC5"/>
                  </a:solidFill>
                  <a:effectLst/>
                  <a:latin typeface="Consolas" panose="020B0609020204030204" pitchFamily="49" charset="0"/>
                </a:rPr>
                <a:t>cli</a:t>
              </a:r>
              <a:r>
                <a:rPr lang="en-GB" sz="1700" b="0" dirty="0">
                  <a:solidFill>
                    <a:srgbClr val="24292E"/>
                  </a:solidFill>
                  <a:effectLst/>
                  <a:latin typeface="Consolas" panose="020B0609020204030204" pitchFamily="49" charset="0"/>
                </a:rPr>
                <a:t> import </a:t>
              </a:r>
              <a:r>
                <a:rPr lang="en-GB" sz="1700" b="1" dirty="0">
                  <a:solidFill>
                    <a:srgbClr val="24292E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onsolas" panose="020B0609020204030204" pitchFamily="49" charset="0"/>
                </a:rPr>
                <a:t>Latex</a:t>
              </a:r>
              <a:r>
                <a:rPr lang="en-GB" sz="1700" b="1" u="sng" dirty="0">
                  <a:solidFill>
                    <a:srgbClr val="FF0000"/>
                  </a:solidFill>
                  <a:effectLst/>
                  <a:latin typeface="Consolas" panose="020B0609020204030204" pitchFamily="49" charset="0"/>
                </a:rPr>
                <a:t>OCR</a:t>
              </a: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0DF48F6B-202D-804C-DD1A-BF2B87077026}"/>
                </a:ext>
              </a:extLst>
            </p:cNvPr>
            <p:cNvSpPr txBox="1"/>
            <p:nvPr/>
          </p:nvSpPr>
          <p:spPr>
            <a:xfrm>
              <a:off x="4715533" y="493064"/>
              <a:ext cx="4383199" cy="616235"/>
            </a:xfrm>
            <a:prstGeom prst="rect">
              <a:avLst/>
            </a:prstGeom>
            <a:noFill/>
          </p:spPr>
          <p:txBody>
            <a:bodyPr wrap="square" lIns="0" tIns="0" rIns="0" bIns="0" anchor="ctr" anchorCtr="0">
              <a:noAutofit/>
            </a:bodyPr>
            <a:lstStyle/>
            <a:p>
              <a:pPr>
                <a:buNone/>
              </a:pPr>
              <a:r>
                <a:rPr lang="pt-BR" sz="2400" b="1" noProof="0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Horley Old Style"/>
                </a:rPr>
                <a:t>Path</a:t>
              </a:r>
              <a:r>
                <a:rPr lang="pt-BR" sz="2400" b="1" noProof="0" dirty="0">
                  <a:solidFill>
                    <a:srgbClr val="FF000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Horley Old Style"/>
                </a:rPr>
                <a:t>lib</a:t>
              </a:r>
              <a:r>
                <a:rPr lang="pt-BR" sz="2400" noProof="0" dirty="0">
                  <a:latin typeface="Horley Old Style"/>
                </a:rPr>
                <a:t>  - Caminhos  </a:t>
              </a:r>
            </a:p>
            <a:p>
              <a:pPr>
                <a:buNone/>
              </a:pPr>
              <a:r>
                <a:rPr lang="pt-BR" sz="2400" noProof="0" dirty="0"/>
                <a:t>            sistema orientado a objetos</a:t>
              </a:r>
              <a:endParaRPr lang="pt-BR" sz="2400" b="1" u="sng" noProof="0" dirty="0">
                <a:solidFill>
                  <a:srgbClr val="FF0000"/>
                </a:solidFill>
                <a:latin typeface="Horley Old Style"/>
              </a:endParaRPr>
            </a:p>
          </p:txBody>
        </p:sp>
      </p:grpSp>
      <p:grpSp>
        <p:nvGrpSpPr>
          <p:cNvPr id="38" name="Group 37">
            <a:extLst>
              <a:ext uri="{FF2B5EF4-FFF2-40B4-BE49-F238E27FC236}">
                <a16:creationId xmlns:a16="http://schemas.microsoft.com/office/drawing/2014/main" id="{692C0CAD-0539-F470-8BE1-EC28143391AC}"/>
              </a:ext>
            </a:extLst>
          </p:cNvPr>
          <p:cNvGrpSpPr/>
          <p:nvPr/>
        </p:nvGrpSpPr>
        <p:grpSpPr>
          <a:xfrm>
            <a:off x="1327531" y="4158348"/>
            <a:ext cx="8416059" cy="2222446"/>
            <a:chOff x="1026424" y="4269235"/>
            <a:chExt cx="8416059" cy="2222446"/>
          </a:xfrm>
        </p:grpSpPr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161F6DEA-096C-F555-48BB-1E739BC6EBAB}"/>
                </a:ext>
              </a:extLst>
            </p:cNvPr>
            <p:cNvGrpSpPr/>
            <p:nvPr/>
          </p:nvGrpSpPr>
          <p:grpSpPr>
            <a:xfrm>
              <a:off x="1026424" y="4269235"/>
              <a:ext cx="8416059" cy="2222446"/>
              <a:chOff x="1309228" y="3959086"/>
              <a:chExt cx="8416059" cy="2222446"/>
            </a:xfrm>
          </p:grpSpPr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C293EDE8-16DF-FE06-8E36-C4C5AF57730B}"/>
                  </a:ext>
                </a:extLst>
              </p:cNvPr>
              <p:cNvSpPr txBox="1"/>
              <p:nvPr/>
            </p:nvSpPr>
            <p:spPr>
              <a:xfrm>
                <a:off x="4939491" y="5109387"/>
                <a:ext cx="1753921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pt-BR" sz="2400" b="1" dirty="0">
                    <a:solidFill>
                      <a:srgbClr val="0000FF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rPr>
                  <a:t>OCR Model</a:t>
                </a:r>
                <a:endParaRPr lang="en-US" b="1" dirty="0">
                  <a:solidFill>
                    <a:srgbClr val="0000FF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pic>
            <p:nvPicPr>
              <p:cNvPr id="20" name="Picture 19">
                <a:extLst>
                  <a:ext uri="{FF2B5EF4-FFF2-40B4-BE49-F238E27FC236}">
                    <a16:creationId xmlns:a16="http://schemas.microsoft.com/office/drawing/2014/main" id="{A2544E92-B766-6FF1-86F4-389E2A3BF8C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artisticTexturizer/>
                        </a14:imgEffect>
                      </a14:imgLayer>
                    </a14:imgProps>
                  </a:ext>
                </a:extLst>
              </a:blip>
              <a:srcRect l="5358" t="3913" r="4219" b="19578"/>
              <a:stretch>
                <a:fillRect/>
              </a:stretch>
            </p:blipFill>
            <p:spPr>
              <a:xfrm>
                <a:off x="1309228" y="3959087"/>
                <a:ext cx="2855168" cy="991516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  <a:effectLst>
                <a:outerShdw blurRad="50800" dist="38100" dir="8100000" algn="tr" rotWithShape="0">
                  <a:prstClr val="black">
                    <a:alpha val="40000"/>
                  </a:prstClr>
                </a:outerShdw>
              </a:effectLst>
            </p:spPr>
          </p:pic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1" name="TextBox 20">
                    <a:extLst>
                      <a:ext uri="{FF2B5EF4-FFF2-40B4-BE49-F238E27FC236}">
                        <a16:creationId xmlns:a16="http://schemas.microsoft.com/office/drawing/2014/main" id="{EEB9D3AA-61DD-D3B6-66D1-7BB9309E52FF}"/>
                      </a:ext>
                    </a:extLst>
                  </p:cNvPr>
                  <p:cNvSpPr txBox="1"/>
                  <p:nvPr/>
                </p:nvSpPr>
                <p:spPr>
                  <a:xfrm>
                    <a:off x="7190722" y="3959086"/>
                    <a:ext cx="2534565" cy="1111287"/>
                  </a:xfrm>
                  <a:prstGeom prst="rect">
                    <a:avLst/>
                  </a:prstGeom>
                  <a:solidFill>
                    <a:srgbClr val="E7E7FF"/>
                  </a:solidFill>
                  <a:ln>
                    <a:solidFill>
                      <a:schemeClr val="tx1"/>
                    </a:solidFill>
                  </a:ln>
                  <a:effectLst>
                    <a:outerShdw blurRad="50800" dist="38100" dir="8100000" algn="tr" rotWithShape="0">
                      <a:prstClr val="black">
                        <a:alpha val="40000"/>
                      </a:prstClr>
                    </a:outerShdw>
                  </a:effectLst>
                </p:spPr>
                <p:txBody>
                  <a:bodyPr wrap="square" lIns="0" tIns="0" rIns="0" bIns="0" rtlCol="0" anchor="ctr" anchorCtr="0">
                    <a:no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f>
                            <m:fPr>
                              <m:ctrlPr>
                                <a:rPr lang="en-US" sz="3200" b="1" i="1" smtClean="0">
                                  <a:effectLst>
                                    <a:outerShdw blurRad="38100" dist="38100" dir="2700000" algn="tl">
                                      <a:srgbClr val="000000">
                                        <a:alpha val="43137"/>
                                      </a:srgbClr>
                                    </a:outerShdw>
                                  </a:effectLst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3200" b="1" i="1" smtClean="0">
                                  <a:effectLst>
                                    <a:outerShdw blurRad="38100" dist="38100" dir="2700000" algn="tl">
                                      <a:srgbClr val="000000">
                                        <a:alpha val="43137"/>
                                      </a:srgbClr>
                                    </a:outerShdw>
                                  </a:effectLst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𝝏</m:t>
                              </m:r>
                              <m:r>
                                <a:rPr lang="en-US" sz="3200" b="1" i="1" smtClean="0">
                                  <a:effectLst>
                                    <a:outerShdw blurRad="38100" dist="38100" dir="2700000" algn="tl">
                                      <a:srgbClr val="000000">
                                        <a:alpha val="43137"/>
                                      </a:srgbClr>
                                    </a:outerShdw>
                                  </a:effectLst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∅</m:t>
                              </m:r>
                            </m:num>
                            <m:den>
                              <m:r>
                                <a:rPr lang="en-US" sz="3200" b="1" i="1">
                                  <a:effectLst>
                                    <a:outerShdw blurRad="38100" dist="38100" dir="2700000" algn="tl">
                                      <a:srgbClr val="000000">
                                        <a:alpha val="43137"/>
                                      </a:srgbClr>
                                    </a:outerShdw>
                                  </a:effectLst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𝝏</m:t>
                              </m:r>
                              <m:r>
                                <a:rPr lang="pt-BR" sz="3200" b="1" i="1" smtClean="0">
                                  <a:effectLst>
                                    <a:outerShdw blurRad="38100" dist="38100" dir="2700000" algn="tl">
                                      <a:srgbClr val="000000">
                                        <a:alpha val="43137"/>
                                      </a:srgbClr>
                                    </a:outerShdw>
                                  </a:effectLst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𝒕</m:t>
                              </m:r>
                            </m:den>
                          </m:f>
                          <m:r>
                            <a:rPr lang="pt-BR" sz="3200" b="1" i="1" smtClean="0">
                              <a:effectLst>
                                <a:outerShdw blurRad="38100" dist="38100" dir="2700000" algn="tl">
                                  <a:srgbClr val="000000">
                                    <a:alpha val="43137"/>
                                  </a:srgbClr>
                                </a:outerShdw>
                              </a:effectLst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pt-BR" sz="3200" b="1" i="1" smtClean="0">
                              <a:effectLst>
                                <a:outerShdw blurRad="38100" dist="38100" dir="2700000" algn="tl">
                                  <a:srgbClr val="000000">
                                    <a:alpha val="43137"/>
                                  </a:srgbClr>
                                </a:outerShdw>
                              </a:effectLst>
                              <a:latin typeface="Cambria Math" panose="02040503050406030204" pitchFamily="18" charset="0"/>
                            </a:rPr>
                            <m:t>𝑫</m:t>
                          </m:r>
                          <m:sSup>
                            <m:sSupPr>
                              <m:ctrlPr>
                                <a:rPr lang="pt-BR" sz="3200" b="1" i="1" smtClean="0">
                                  <a:effectLst>
                                    <a:outerShdw blurRad="38100" dist="38100" dir="2700000" algn="tl">
                                      <a:srgbClr val="000000">
                                        <a:alpha val="43137"/>
                                      </a:srgbClr>
                                    </a:outerShdw>
                                  </a:effectLst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pt-BR" sz="3200" b="1" i="0" smtClean="0">
                                  <a:effectLst>
                                    <a:outerShdw blurRad="38100" dist="38100" dir="2700000" algn="tl">
                                      <a:srgbClr val="000000">
                                        <a:alpha val="43137"/>
                                      </a:srgbClr>
                                    </a:outerShdw>
                                  </a:effectLst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𝛁</m:t>
                              </m:r>
                            </m:e>
                            <m:sup>
                              <m:r>
                                <a:rPr lang="pt-BR" sz="3200" b="1" i="1" smtClean="0">
                                  <a:effectLst>
                                    <a:outerShdw blurRad="38100" dist="38100" dir="2700000" algn="tl">
                                      <a:srgbClr val="000000">
                                        <a:alpha val="43137"/>
                                      </a:srgbClr>
                                    </a:outerShdw>
                                  </a:effectLst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sup>
                          </m:sSup>
                          <m:r>
                            <a:rPr lang="en-US" sz="3200" b="1" i="1">
                              <a:effectLst>
                                <a:outerShdw blurRad="38100" dist="38100" dir="2700000" algn="tl">
                                  <a:srgbClr val="000000">
                                    <a:alpha val="43137"/>
                                  </a:srgbClr>
                                </a:outerShdw>
                              </a:effectLst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∅</m:t>
                          </m:r>
                        </m:oMath>
                      </m:oMathPara>
                    </a14:m>
                    <a:endParaRPr lang="LID4096" sz="3200" b="1" i="1" dirty="0">
                      <a:effectLst>
                        <a:outerShdw blurRad="38100" dist="38100" dir="2700000" algn="tl">
                          <a:srgbClr val="000000">
                            <a:alpha val="43137"/>
                          </a:srgbClr>
                        </a:outerShdw>
                      </a:effectLst>
                    </a:endParaRPr>
                  </a:p>
                </p:txBody>
              </p:sp>
            </mc:Choice>
            <mc:Fallback xmlns="">
              <p:sp>
                <p:nvSpPr>
                  <p:cNvPr id="21" name="TextBox 20">
                    <a:extLst>
                      <a:ext uri="{FF2B5EF4-FFF2-40B4-BE49-F238E27FC236}">
                        <a16:creationId xmlns:a16="http://schemas.microsoft.com/office/drawing/2014/main" id="{EEB9D3AA-61DD-D3B6-66D1-7BB9309E52FF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7190722" y="3959086"/>
                    <a:ext cx="2534565" cy="1111287"/>
                  </a:xfrm>
                  <a:prstGeom prst="rect">
                    <a:avLst/>
                  </a:prstGeom>
                  <a:blipFill>
                    <a:blip r:embed="rId6"/>
                    <a:stretch>
                      <a:fillRect/>
                    </a:stretch>
                  </a:blipFill>
                  <a:ln>
                    <a:solidFill>
                      <a:schemeClr val="tx1"/>
                    </a:solidFill>
                  </a:ln>
                  <a:effectLst>
                    <a:outerShdw blurRad="50800" dist="38100" dir="8100000" algn="tr" rotWithShape="0">
                      <a:prstClr val="black">
                        <a:alpha val="40000"/>
                      </a:prstClr>
                    </a:outerShdw>
                  </a:effectLst>
                </p:spPr>
                <p:txBody>
                  <a:bodyPr/>
                  <a:lstStyle/>
                  <a:p>
                    <a:r>
                      <a:rPr lang="LID4096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A142396D-445C-B152-597E-8DCA03BE4ECC}"/>
                  </a:ext>
                </a:extLst>
              </p:cNvPr>
              <p:cNvSpPr txBox="1"/>
              <p:nvPr/>
            </p:nvSpPr>
            <p:spPr>
              <a:xfrm>
                <a:off x="2063994" y="5565297"/>
                <a:ext cx="7661293" cy="616235"/>
              </a:xfrm>
              <a:prstGeom prst="rect">
                <a:avLst/>
              </a:prstGeom>
              <a:solidFill>
                <a:srgbClr val="E7E7FF"/>
              </a:solidFill>
              <a:ln>
                <a:solidFill>
                  <a:schemeClr val="tx1"/>
                </a:solidFill>
              </a:ln>
              <a:effectLst>
                <a:outerShdw blurRad="50800" dist="38100" dir="8100000" algn="tr" rotWithShape="0">
                  <a:prstClr val="black">
                    <a:alpha val="40000"/>
                  </a:prstClr>
                </a:outerShdw>
              </a:effectLst>
            </p:spPr>
            <p:txBody>
              <a:bodyPr wrap="square" anchor="ctr" anchorCtr="0">
                <a:noAutofit/>
              </a:bodyPr>
              <a:lstStyle/>
              <a:p>
                <a:pPr algn="ctr">
                  <a:buNone/>
                </a:pPr>
                <a:r>
                  <a:rPr lang="en-US" sz="2000" b="1" dirty="0">
                    <a:solidFill>
                      <a:srgbClr val="D73A49"/>
                    </a:solidFill>
                    <a:effectLst/>
                    <a:latin typeface="Consolas" panose="020B0609020204030204" pitchFamily="49" charset="0"/>
                  </a:rPr>
                  <a:t>\</a:t>
                </a:r>
                <a:r>
                  <a:rPr lang="en-US" sz="2000" b="1" dirty="0">
                    <a:solidFill>
                      <a:srgbClr val="6F42C1"/>
                    </a:solidFill>
                    <a:effectLst/>
                    <a:latin typeface="Consolas" panose="020B0609020204030204" pitchFamily="49" charset="0"/>
                  </a:rPr>
                  <a:t>frac </a:t>
                </a:r>
                <a:r>
                  <a:rPr lang="en-US" sz="2000" b="1" dirty="0">
                    <a:solidFill>
                      <a:srgbClr val="24292E"/>
                    </a:solidFill>
                    <a:effectLst/>
                    <a:latin typeface="Consolas" panose="020B0609020204030204" pitchFamily="49" charset="0"/>
                  </a:rPr>
                  <a:t>{</a:t>
                </a:r>
                <a:r>
                  <a:rPr lang="en-US" sz="2000" b="1" dirty="0">
                    <a:solidFill>
                      <a:srgbClr val="005CC5"/>
                    </a:solidFill>
                    <a:effectLst/>
                    <a:latin typeface="Consolas" panose="020B0609020204030204" pitchFamily="49" charset="0"/>
                  </a:rPr>
                  <a:t>\partial\phi</a:t>
                </a:r>
                <a:r>
                  <a:rPr lang="en-US" sz="2000" b="1" dirty="0">
                    <a:solidFill>
                      <a:srgbClr val="24292E"/>
                    </a:solidFill>
                    <a:effectLst/>
                    <a:latin typeface="Consolas" panose="020B0609020204030204" pitchFamily="49" charset="0"/>
                  </a:rPr>
                  <a:t>} {</a:t>
                </a:r>
                <a:r>
                  <a:rPr lang="en-US" sz="2000" b="1" dirty="0">
                    <a:solidFill>
                      <a:srgbClr val="005CC5"/>
                    </a:solidFill>
                    <a:effectLst/>
                    <a:latin typeface="Consolas" panose="020B0609020204030204" pitchFamily="49" charset="0"/>
                  </a:rPr>
                  <a:t>\partial </a:t>
                </a:r>
                <a:r>
                  <a:rPr lang="en-US" sz="2000" b="1" dirty="0">
                    <a:solidFill>
                      <a:srgbClr val="24292E"/>
                    </a:solidFill>
                    <a:effectLst/>
                    <a:latin typeface="Consolas" panose="020B0609020204030204" pitchFamily="49" charset="0"/>
                  </a:rPr>
                  <a:t>t} = D </a:t>
                </a:r>
                <a:r>
                  <a:rPr lang="en-US" sz="2000" b="1" dirty="0">
                    <a:solidFill>
                      <a:srgbClr val="005CC5"/>
                    </a:solidFill>
                    <a:effectLst/>
                    <a:latin typeface="Consolas" panose="020B0609020204030204" pitchFamily="49" charset="0"/>
                  </a:rPr>
                  <a:t>\nabla</a:t>
                </a:r>
                <a:r>
                  <a:rPr lang="en-US" sz="2000" b="1" dirty="0">
                    <a:solidFill>
                      <a:srgbClr val="24292E"/>
                    </a:solidFill>
                    <a:effectLst/>
                    <a:latin typeface="Consolas" panose="020B0609020204030204" pitchFamily="49" charset="0"/>
                  </a:rPr>
                  <a:t>^</a:t>
                </a:r>
                <a:r>
                  <a:rPr lang="en-US" sz="2000" b="1" dirty="0">
                    <a:solidFill>
                      <a:srgbClr val="005CC5"/>
                    </a:solidFill>
                    <a:effectLst/>
                    <a:latin typeface="Consolas" panose="020B0609020204030204" pitchFamily="49" charset="0"/>
                  </a:rPr>
                  <a:t>2 \phi</a:t>
                </a:r>
                <a:endParaRPr lang="en-US" sz="2000" b="1" dirty="0">
                  <a:solidFill>
                    <a:srgbClr val="24292E"/>
                  </a:solidFill>
                  <a:effectLst/>
                  <a:latin typeface="Consolas" panose="020B0609020204030204" pitchFamily="49" charset="0"/>
                </a:endParaRPr>
              </a:p>
            </p:txBody>
          </p:sp>
          <p:sp>
            <p:nvSpPr>
              <p:cNvPr id="23" name="Arrow: Right 22">
                <a:extLst>
                  <a:ext uri="{FF2B5EF4-FFF2-40B4-BE49-F238E27FC236}">
                    <a16:creationId xmlns:a16="http://schemas.microsoft.com/office/drawing/2014/main" id="{441FCC32-94B3-0490-7686-8397979F3ABB}"/>
                  </a:ext>
                </a:extLst>
              </p:cNvPr>
              <p:cNvSpPr/>
              <p:nvPr/>
            </p:nvSpPr>
            <p:spPr>
              <a:xfrm rot="2162833">
                <a:off x="3985028" y="5057799"/>
                <a:ext cx="317578" cy="389449"/>
              </a:xfrm>
              <a:prstGeom prst="rightArrow">
                <a:avLst/>
              </a:prstGeom>
              <a:solidFill>
                <a:srgbClr val="0000FF"/>
              </a:solidFill>
              <a:effectLst>
                <a:outerShdw blurRad="50800" dist="38100" dir="8100000" algn="tr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LID4096" dirty="0"/>
              </a:p>
            </p:txBody>
          </p:sp>
          <p:sp>
            <p:nvSpPr>
              <p:cNvPr id="24" name="Arrow: Right 23">
                <a:extLst>
                  <a:ext uri="{FF2B5EF4-FFF2-40B4-BE49-F238E27FC236}">
                    <a16:creationId xmlns:a16="http://schemas.microsoft.com/office/drawing/2014/main" id="{8EC1D28D-75BC-1207-5C63-1FF25EE80232}"/>
                  </a:ext>
                </a:extLst>
              </p:cNvPr>
              <p:cNvSpPr/>
              <p:nvPr/>
            </p:nvSpPr>
            <p:spPr>
              <a:xfrm rot="19808280">
                <a:off x="6816045" y="5003558"/>
                <a:ext cx="317578" cy="389449"/>
              </a:xfrm>
              <a:prstGeom prst="rightArrow">
                <a:avLst/>
              </a:prstGeom>
              <a:solidFill>
                <a:srgbClr val="0000FF"/>
              </a:solidFill>
              <a:effectLst>
                <a:outerShdw blurRad="50800" dist="38100" dir="8100000" algn="tr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LID4096" dirty="0"/>
              </a:p>
            </p:txBody>
          </p:sp>
        </p:grpSp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D44DD562-985A-8937-8F19-F8C2BF3194D4}"/>
                </a:ext>
              </a:extLst>
            </p:cNvPr>
            <p:cNvSpPr txBox="1"/>
            <p:nvPr/>
          </p:nvSpPr>
          <p:spPr>
            <a:xfrm>
              <a:off x="1781191" y="5480799"/>
              <a:ext cx="1826286" cy="43088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r"/>
              <a:r>
                <a:rPr lang="pt-BR" sz="2200" b="1" dirty="0">
                  <a:solidFill>
                    <a:srgbClr val="FF0000"/>
                  </a:solidFill>
                </a:rPr>
                <a:t>.. predição</a:t>
              </a:r>
              <a:endParaRPr lang="en-US" sz="2200" b="1" dirty="0">
                <a:solidFill>
                  <a:srgbClr val="FF0000"/>
                </a:solidFill>
              </a:endParaRPr>
            </a:p>
          </p:txBody>
        </p:sp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13661CDB-ECDB-730C-CC85-4898BA726687}"/>
                </a:ext>
              </a:extLst>
            </p:cNvPr>
            <p:cNvSpPr txBox="1"/>
            <p:nvPr/>
          </p:nvSpPr>
          <p:spPr>
            <a:xfrm>
              <a:off x="6981415" y="5473318"/>
              <a:ext cx="2366493" cy="43088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pt-BR" sz="2200" b="1" dirty="0">
                  <a:solidFill>
                    <a:srgbClr val="FF0000"/>
                  </a:solidFill>
                </a:rPr>
                <a:t>.. renderização</a:t>
              </a:r>
              <a:endParaRPr lang="en-US" sz="2200" b="1" dirty="0">
                <a:solidFill>
                  <a:srgbClr val="FF0000"/>
                </a:solidFill>
              </a:endParaRPr>
            </a:p>
          </p:txBody>
        </p:sp>
      </p:grpSp>
      <p:sp>
        <p:nvSpPr>
          <p:cNvPr id="37" name="TextBox 36">
            <a:extLst>
              <a:ext uri="{FF2B5EF4-FFF2-40B4-BE49-F238E27FC236}">
                <a16:creationId xmlns:a16="http://schemas.microsoft.com/office/drawing/2014/main" id="{773B681C-E1F4-D5EE-DE1F-CE0DA1AF95C6}"/>
              </a:ext>
            </a:extLst>
          </p:cNvPr>
          <p:cNvSpPr txBox="1"/>
          <p:nvPr/>
        </p:nvSpPr>
        <p:spPr>
          <a:xfrm>
            <a:off x="1196975" y="3157492"/>
            <a:ext cx="8680355" cy="790791"/>
          </a:xfrm>
          <a:prstGeom prst="rect">
            <a:avLst/>
          </a:prstGeom>
          <a:solidFill>
            <a:srgbClr val="E7E7FF"/>
          </a:solidFill>
          <a:ln>
            <a:solidFill>
              <a:schemeClr val="tx1"/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 wrap="square" anchor="ctr" anchorCtr="0">
            <a:noAutofit/>
          </a:bodyPr>
          <a:lstStyle/>
          <a:p>
            <a:pPr>
              <a:buNone/>
            </a:pPr>
            <a:r>
              <a:rPr lang="en-US" b="1" dirty="0">
                <a:solidFill>
                  <a:srgbClr val="24292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</a:rPr>
              <a:t>img  </a:t>
            </a:r>
            <a:r>
              <a:rPr lang="en-US" b="0" dirty="0">
                <a:solidFill>
                  <a:srgbClr val="24292E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D73A49"/>
                </a:solidFill>
                <a:effectLst/>
                <a:latin typeface="Consolas" panose="020B0609020204030204" pitchFamily="49" charset="0"/>
              </a:rPr>
              <a:t>= </a:t>
            </a:r>
            <a:r>
              <a:rPr lang="en-US" b="0" dirty="0">
                <a:solidFill>
                  <a:srgbClr val="005CC5"/>
                </a:solidFill>
                <a:effectLst/>
                <a:latin typeface="Consolas" panose="020B0609020204030204" pitchFamily="49" charset="0"/>
              </a:rPr>
              <a:t>Image</a:t>
            </a:r>
            <a:r>
              <a:rPr lang="en-US" b="0" dirty="0">
                <a:solidFill>
                  <a:srgbClr val="24292E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dirty="0">
                <a:solidFill>
                  <a:srgbClr val="005CC5"/>
                </a:solidFill>
                <a:effectLst/>
                <a:latin typeface="Consolas" panose="020B0609020204030204" pitchFamily="49" charset="0"/>
              </a:rPr>
              <a:t>open</a:t>
            </a:r>
            <a:r>
              <a:rPr lang="en-US" b="0" dirty="0">
                <a:solidFill>
                  <a:srgbClr val="24292E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dirty="0">
                <a:solidFill>
                  <a:srgbClr val="D73A49"/>
                </a:solidFill>
                <a:latin typeface="Consolas" panose="020B0609020204030204" pitchFamily="49" charset="0"/>
              </a:rPr>
              <a:t>Path</a:t>
            </a:r>
            <a:r>
              <a:rPr lang="en-US" dirty="0">
                <a:solidFill>
                  <a:srgbClr val="24292E"/>
                </a:solidFill>
                <a:latin typeface="Consolas" panose="020B0609020204030204" pitchFamily="49" charset="0"/>
              </a:rPr>
              <a:t>(</a:t>
            </a:r>
            <a:r>
              <a:rPr lang="en-US" dirty="0">
                <a:solidFill>
                  <a:srgbClr val="032F62"/>
                </a:solidFill>
                <a:latin typeface="Consolas" panose="020B0609020204030204" pitchFamily="49" charset="0"/>
              </a:rPr>
              <a:t>'</a:t>
            </a:r>
            <a:r>
              <a:rPr lang="en-US" b="1" dirty="0">
                <a:solidFill>
                  <a:srgbClr val="032F6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</a:rPr>
              <a:t>E:/REPO/01.PNG</a:t>
            </a:r>
            <a:r>
              <a:rPr lang="en-US" dirty="0">
                <a:solidFill>
                  <a:srgbClr val="032F62"/>
                </a:solidFill>
                <a:latin typeface="Consolas" panose="020B0609020204030204" pitchFamily="49" charset="0"/>
              </a:rPr>
              <a:t>'</a:t>
            </a:r>
            <a:r>
              <a:rPr lang="en-US" dirty="0">
                <a:solidFill>
                  <a:srgbClr val="24292E"/>
                </a:solidFill>
                <a:latin typeface="Consolas" panose="020B0609020204030204" pitchFamily="49" charset="0"/>
              </a:rPr>
              <a:t>)</a:t>
            </a:r>
            <a:r>
              <a:rPr lang="en-US" b="0" dirty="0">
                <a:solidFill>
                  <a:srgbClr val="24292E"/>
                </a:solidFill>
                <a:effectLst/>
                <a:latin typeface="Consolas" panose="020B0609020204030204" pitchFamily="49" charset="0"/>
              </a:rPr>
              <a:t>) </a:t>
            </a:r>
          </a:p>
          <a:p>
            <a:pPr>
              <a:buNone/>
            </a:pPr>
            <a:r>
              <a:rPr lang="en-US" b="1" dirty="0">
                <a:solidFill>
                  <a:srgbClr val="24292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</a:rPr>
              <a:t>model</a:t>
            </a:r>
            <a:r>
              <a:rPr lang="en-US" b="0" dirty="0">
                <a:solidFill>
                  <a:srgbClr val="24292E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D73A49"/>
                </a:solidFill>
                <a:effectLst/>
                <a:latin typeface="Consolas" panose="020B0609020204030204" pitchFamily="49" charset="0"/>
              </a:rPr>
              <a:t>= </a:t>
            </a:r>
            <a:r>
              <a:rPr lang="en-US" b="0" dirty="0">
                <a:solidFill>
                  <a:srgbClr val="24292E"/>
                </a:solidFill>
                <a:effectLst/>
                <a:latin typeface="Consolas" panose="020B0609020204030204" pitchFamily="49" charset="0"/>
              </a:rPr>
              <a:t>LatexOCR() 				   ; </a:t>
            </a:r>
            <a:r>
              <a:rPr lang="en-US" b="0" dirty="0">
                <a:solidFill>
                  <a:srgbClr val="D73A49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lang="en-US" b="0" dirty="0">
                <a:solidFill>
                  <a:srgbClr val="24292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</a:rPr>
              <a:t>(</a:t>
            </a:r>
            <a:r>
              <a:rPr lang="en-US" b="1" dirty="0">
                <a:solidFill>
                  <a:srgbClr val="24292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</a:rPr>
              <a:t>model</a:t>
            </a:r>
            <a:r>
              <a:rPr lang="en-US" b="0" dirty="0">
                <a:solidFill>
                  <a:srgbClr val="24292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</a:rPr>
              <a:t>(</a:t>
            </a:r>
            <a:r>
              <a:rPr lang="en-US" b="1" dirty="0">
                <a:solidFill>
                  <a:srgbClr val="24292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</a:rPr>
              <a:t>img</a:t>
            </a:r>
            <a:r>
              <a:rPr lang="en-US" b="0" dirty="0">
                <a:solidFill>
                  <a:srgbClr val="24292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</a:rPr>
              <a:t>))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278CB2D-6D0D-08E5-A49D-6EECCE90022A}"/>
              </a:ext>
            </a:extLst>
          </p:cNvPr>
          <p:cNvSpPr txBox="1"/>
          <p:nvPr/>
        </p:nvSpPr>
        <p:spPr>
          <a:xfrm>
            <a:off x="1327531" y="5902556"/>
            <a:ext cx="142975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2400" b="1" dirty="0">
                <a:solidFill>
                  <a:srgbClr val="FF0000"/>
                </a:solidFill>
              </a:rPr>
              <a:t>RES:</a:t>
            </a:r>
            <a:endParaRPr lang="en-US" b="1" dirty="0">
              <a:solidFill>
                <a:srgbClr val="FF0000"/>
              </a:solidFill>
            </a:endParaRP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8A051B33-90CE-62E3-06B7-42BBC9D357A9}"/>
              </a:ext>
            </a:extLst>
          </p:cNvPr>
          <p:cNvGrpSpPr/>
          <p:nvPr/>
        </p:nvGrpSpPr>
        <p:grpSpPr>
          <a:xfrm>
            <a:off x="4372217" y="4351343"/>
            <a:ext cx="2384084" cy="918838"/>
            <a:chOff x="4372217" y="4351343"/>
            <a:chExt cx="2384084" cy="918838"/>
          </a:xfrm>
        </p:grpSpPr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55E355AF-88EA-5E10-A105-8998572D2E9A}"/>
                </a:ext>
              </a:extLst>
            </p:cNvPr>
            <p:cNvSpPr txBox="1"/>
            <p:nvPr/>
          </p:nvSpPr>
          <p:spPr>
            <a:xfrm>
              <a:off x="4372217" y="4351343"/>
              <a:ext cx="2384084" cy="918838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  <a:effectLst>
              <a:outerShdw blurRad="50800" dist="38100" dir="8100000" algn="tr" rotWithShape="0">
                <a:prstClr val="black">
                  <a:alpha val="40000"/>
                </a:prstClr>
              </a:outerShdw>
            </a:effectLst>
          </p:spPr>
          <p:txBody>
            <a:bodyPr wrap="square" lIns="0" tIns="0" rIns="0" bIns="0" rtlCol="0" anchor="ctr" anchorCtr="0">
              <a:noAutofit/>
            </a:bodyPr>
            <a:lstStyle/>
            <a:p>
              <a:endParaRPr lang="LID4096" sz="3200" b="1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pic>
          <p:nvPicPr>
            <p:cNvPr id="14" name="Picture 13">
              <a:extLst>
                <a:ext uri="{FF2B5EF4-FFF2-40B4-BE49-F238E27FC236}">
                  <a16:creationId xmlns:a16="http://schemas.microsoft.com/office/drawing/2014/main" id="{C97E7732-C692-F62D-0E41-68E22B98D001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rcRect l="1221" t="1811" r="3833"/>
            <a:stretch>
              <a:fillRect/>
            </a:stretch>
          </p:blipFill>
          <p:spPr>
            <a:xfrm>
              <a:off x="4470289" y="4448067"/>
              <a:ext cx="2154441" cy="776471"/>
            </a:xfrm>
            <a:prstGeom prst="rect">
              <a:avLst/>
            </a:prstGeom>
            <a:noFill/>
            <a:ln>
              <a:noFill/>
            </a:ln>
            <a:effectLst/>
          </p:spPr>
        </p:pic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A1E61368-AF9E-D58F-BA89-49E20124ED26}"/>
                </a:ext>
              </a:extLst>
            </p:cNvPr>
            <p:cNvSpPr txBox="1"/>
            <p:nvPr/>
          </p:nvSpPr>
          <p:spPr>
            <a:xfrm>
              <a:off x="4429159" y="4757026"/>
              <a:ext cx="839932" cy="404617"/>
            </a:xfrm>
            <a:prstGeom prst="rect">
              <a:avLst/>
            </a:prstGeom>
            <a:noFill/>
          </p:spPr>
          <p:txBody>
            <a:bodyPr wrap="square" lIns="0" tIns="0" rIns="0" bIns="0" anchor="b" anchorCtr="0">
              <a:noAutofit/>
            </a:bodyPr>
            <a:lstStyle/>
            <a:p>
              <a:r>
                <a:rPr lang="pt-BR" sz="4000" b="1" dirty="0">
                  <a:solidFill>
                    <a:srgbClr val="FF0000"/>
                  </a:solidFill>
                  <a:latin typeface="Horley Old Style"/>
                </a:rPr>
                <a:t>___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37560753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188</TotalTime>
  <Words>112</Words>
  <Application>Microsoft Office PowerPoint</Application>
  <PresentationFormat>Widescreen</PresentationFormat>
  <Paragraphs>18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8" baseType="lpstr">
      <vt:lpstr>Arial</vt:lpstr>
      <vt:lpstr>Calibri</vt:lpstr>
      <vt:lpstr>Calibri Light</vt:lpstr>
      <vt:lpstr>Cambria Math</vt:lpstr>
      <vt:lpstr>Consolas</vt:lpstr>
      <vt:lpstr>Horley Old Style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grossi</dc:creator>
  <cp:lastModifiedBy>grossi</cp:lastModifiedBy>
  <cp:revision>31</cp:revision>
  <dcterms:created xsi:type="dcterms:W3CDTF">2026-05-20T13:22:55Z</dcterms:created>
  <dcterms:modified xsi:type="dcterms:W3CDTF">2026-06-24T11:47:25Z</dcterms:modified>
</cp:coreProperties>
</file>