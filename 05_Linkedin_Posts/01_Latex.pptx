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FF"/>
    <a:srgbClr val="0000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06/19/2026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2A08B1-A190-D003-C04B-6AD59CC8ECFB}"/>
              </a:ext>
            </a:extLst>
          </p:cNvPr>
          <p:cNvSpPr txBox="1"/>
          <p:nvPr/>
        </p:nvSpPr>
        <p:spPr>
          <a:xfrm>
            <a:off x="1194324" y="4059828"/>
            <a:ext cx="8683011" cy="24402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>
              <a:lnSpc>
                <a:spcPts val="1650"/>
              </a:lnSpc>
              <a:buNone/>
            </a:pPr>
            <a:endParaRPr lang="en-GB" sz="1700" b="1" u="sng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FE93DD-92CF-7D0A-840D-BB3956AFD79B}"/>
              </a:ext>
            </a:extLst>
          </p:cNvPr>
          <p:cNvSpPr txBox="1"/>
          <p:nvPr/>
        </p:nvSpPr>
        <p:spPr>
          <a:xfrm>
            <a:off x="5385587" y="605688"/>
            <a:ext cx="4491748" cy="24402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>
              <a:lnSpc>
                <a:spcPts val="1650"/>
              </a:lnSpc>
              <a:buNone/>
            </a:pPr>
            <a:endParaRPr lang="en-GB" sz="1700" b="1" u="sng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F5732ED-22FF-0A9C-4B67-CAD17C37947C}"/>
              </a:ext>
            </a:extLst>
          </p:cNvPr>
          <p:cNvGrpSpPr/>
          <p:nvPr/>
        </p:nvGrpSpPr>
        <p:grpSpPr>
          <a:xfrm>
            <a:off x="1194324" y="607022"/>
            <a:ext cx="8773542" cy="2438925"/>
            <a:chOff x="415726" y="398794"/>
            <a:chExt cx="8773542" cy="243892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E74B8B4-CD56-EB47-F8F7-FF9BAB8BE1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26" y="1301326"/>
              <a:ext cx="1417376" cy="15363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4348C19-D0A1-ABB3-7419-E5055972B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25979" y="1301327"/>
              <a:ext cx="2533045" cy="15363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93DBFC-DC5A-999D-DADD-BFFF66AC3D48}"/>
                </a:ext>
              </a:extLst>
            </p:cNvPr>
            <p:cNvSpPr txBox="1"/>
            <p:nvPr/>
          </p:nvSpPr>
          <p:spPr>
            <a:xfrm>
              <a:off x="4708723" y="1301326"/>
              <a:ext cx="4480545" cy="1536393"/>
            </a:xfrm>
            <a:prstGeom prst="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r>
                <a:rPr lang="en-US" sz="24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PIL </a:t>
              </a:r>
              <a:r>
                <a:rPr lang="en-US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Path</a:t>
              </a:r>
              <a:r>
                <a:rPr lang="en-US" sz="2000" dirty="0">
                  <a:latin typeface="Horley Old Style"/>
                </a:rPr>
                <a:t> - </a:t>
              </a:r>
              <a:r>
                <a:rPr lang="pt-PT" sz="2000" dirty="0">
                  <a:latin typeface="Horley Old Style"/>
                </a:rPr>
                <a:t>Biblioteca de imagens Python</a:t>
              </a:r>
            </a:p>
            <a:p>
              <a:r>
                <a:rPr lang="en-GB" sz="24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Latex</a:t>
              </a:r>
              <a:r>
                <a:rPr lang="en-GB" sz="24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OCR</a:t>
              </a: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 </a:t>
              </a:r>
              <a:r>
                <a:rPr lang="en-US" sz="2000" dirty="0">
                  <a:latin typeface="Horley Old Style"/>
                </a:rPr>
                <a:t>- </a:t>
              </a:r>
              <a:r>
                <a:rPr lang="pt-BR" sz="2200" b="1" u="sng" dirty="0">
                  <a:latin typeface="Horley Old Style"/>
                </a:rPr>
                <a:t>Reconhece os caracteres  </a:t>
              </a:r>
            </a:p>
            <a:p>
              <a:endParaRPr lang="pt-BR" sz="600" u="sng" dirty="0">
                <a:latin typeface="Horley Old Style"/>
              </a:endParaRPr>
            </a:p>
            <a:p>
              <a:pPr marL="342900" indent="-342900">
                <a:buFontTx/>
                <a:buChar char="-"/>
              </a:pP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Converte</a:t>
              </a:r>
              <a:r>
                <a:rPr lang="pt-BR" sz="2000" b="1" dirty="0">
                  <a:latin typeface="Horley Old Style"/>
                </a:rPr>
                <a:t> </a:t>
              </a: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imagens</a:t>
              </a:r>
              <a:r>
                <a:rPr lang="pt-BR" sz="2000" dirty="0">
                  <a:latin typeface="Horley Old Style"/>
                </a:rPr>
                <a:t>, documentos (PDF) digitalizados e fotos </a:t>
              </a:r>
              <a:r>
                <a:rPr lang="pt-BR" sz="2000" b="1" dirty="0">
                  <a:solidFill>
                    <a:srgbClr val="FF0000"/>
                  </a:solidFill>
                  <a:latin typeface="Horley Old Style"/>
                </a:rPr>
                <a:t>... em texto</a:t>
              </a:r>
              <a:endParaRPr lang="en-US" sz="2000" b="1" dirty="0">
                <a:solidFill>
                  <a:srgbClr val="FF0000"/>
                </a:solidFill>
                <a:latin typeface="Horley Old Style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E5D6E43-6BD3-89FC-1AAB-E8626A86A321}"/>
                </a:ext>
              </a:extLst>
            </p:cNvPr>
            <p:cNvSpPr txBox="1"/>
            <p:nvPr/>
          </p:nvSpPr>
          <p:spPr>
            <a:xfrm>
              <a:off x="415727" y="398794"/>
              <a:ext cx="4047631" cy="79079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no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path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lib import </a:t>
              </a:r>
              <a:r>
                <a:rPr lang="en-GB" sz="1700" b="1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Path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PIL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import </a:t>
              </a:r>
              <a:r>
                <a:rPr lang="en-GB" sz="1700" b="1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Image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70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from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700" b="0" dirty="0">
                  <a:solidFill>
                    <a:srgbClr val="005CC5"/>
                  </a:solidFill>
                  <a:effectLst/>
                  <a:latin typeface="Consolas" panose="020B0609020204030204" pitchFamily="49" charset="0"/>
                </a:rPr>
                <a:t>pix2tex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GB" sz="1700" b="0" dirty="0">
                  <a:solidFill>
                    <a:srgbClr val="005CC5"/>
                  </a:solidFill>
                  <a:effectLst/>
                  <a:latin typeface="Consolas" panose="020B0609020204030204" pitchFamily="49" charset="0"/>
                </a:rPr>
                <a:t>cli</a:t>
              </a:r>
              <a:r>
                <a:rPr lang="en-GB" sz="170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import </a:t>
              </a:r>
              <a:r>
                <a:rPr lang="en-GB" sz="1700" b="1" dirty="0">
                  <a:solidFill>
                    <a:srgbClr val="24292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</a:rPr>
                <a:t>Latex</a:t>
              </a:r>
              <a:r>
                <a:rPr lang="en-GB" sz="1700" b="1" u="sng" dirty="0">
                  <a:solidFill>
                    <a:srgbClr val="FF0000"/>
                  </a:solidFill>
                  <a:effectLst/>
                  <a:latin typeface="Consolas" panose="020B0609020204030204" pitchFamily="49" charset="0"/>
                </a:rPr>
                <a:t>OCR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F48F6B-202D-804C-DD1A-BF2B87077026}"/>
                </a:ext>
              </a:extLst>
            </p:cNvPr>
            <p:cNvSpPr txBox="1"/>
            <p:nvPr/>
          </p:nvSpPr>
          <p:spPr>
            <a:xfrm>
              <a:off x="4715533" y="493064"/>
              <a:ext cx="4383199" cy="616235"/>
            </a:xfrm>
            <a:prstGeom prst="rect">
              <a:avLst/>
            </a:prstGeom>
            <a:noFill/>
          </p:spPr>
          <p:txBody>
            <a:bodyPr wrap="square" lIns="0" tIns="0" rIns="0" bIns="0" anchor="ctr" anchorCtr="0">
              <a:noAutofit/>
            </a:bodyPr>
            <a:lstStyle/>
            <a:p>
              <a:pPr>
                <a:buNone/>
              </a:pPr>
              <a:r>
                <a:rPr lang="pt-BR" sz="2400" b="1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Path</a:t>
              </a:r>
              <a:r>
                <a:rPr lang="pt-BR" sz="2400" b="1" noProof="0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"/>
                </a:rPr>
                <a:t>lib</a:t>
              </a:r>
              <a:r>
                <a:rPr lang="pt-BR" sz="2400" noProof="0" dirty="0">
                  <a:latin typeface="Horley Old Style"/>
                </a:rPr>
                <a:t>  - Caminhos  </a:t>
              </a:r>
            </a:p>
            <a:p>
              <a:pPr>
                <a:buNone/>
              </a:pPr>
              <a:r>
                <a:rPr lang="pt-BR" sz="2400" noProof="0" dirty="0"/>
                <a:t>            sistema orientado a objetos</a:t>
              </a:r>
              <a:endParaRPr lang="pt-BR" sz="2400" b="1" u="sng" noProof="0" dirty="0">
                <a:solidFill>
                  <a:srgbClr val="FF0000"/>
                </a:solidFill>
                <a:latin typeface="Horley Old Style"/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92C0CAD-0539-F470-8BE1-EC28143391AC}"/>
              </a:ext>
            </a:extLst>
          </p:cNvPr>
          <p:cNvGrpSpPr/>
          <p:nvPr/>
        </p:nvGrpSpPr>
        <p:grpSpPr>
          <a:xfrm>
            <a:off x="1373855" y="4158348"/>
            <a:ext cx="8369735" cy="2222446"/>
            <a:chOff x="1072748" y="4269235"/>
            <a:chExt cx="8369735" cy="222244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61F6DEA-096C-F555-48BB-1E739BC6EBAB}"/>
                </a:ext>
              </a:extLst>
            </p:cNvPr>
            <p:cNvGrpSpPr/>
            <p:nvPr/>
          </p:nvGrpSpPr>
          <p:grpSpPr>
            <a:xfrm>
              <a:off x="1072748" y="4269235"/>
              <a:ext cx="8369735" cy="2222446"/>
              <a:chOff x="1355552" y="3959086"/>
              <a:chExt cx="8369735" cy="2222446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93EDE8-16DF-FE06-8E36-C4C5AF57730B}"/>
                  </a:ext>
                </a:extLst>
              </p:cNvPr>
              <p:cNvSpPr txBox="1"/>
              <p:nvPr/>
            </p:nvSpPr>
            <p:spPr>
              <a:xfrm>
                <a:off x="4939491" y="5109387"/>
                <a:ext cx="175392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OCR Model</a:t>
                </a:r>
                <a:endParaRPr lang="en-US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A2544E92-B766-6FF1-86F4-389E2A3BF8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358" t="3913" r="4219" b="19578"/>
              <a:stretch>
                <a:fillRect/>
              </a:stretch>
            </p:blipFill>
            <p:spPr>
              <a:xfrm>
                <a:off x="1355552" y="3959087"/>
                <a:ext cx="2645884" cy="91883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EB9D3AA-61DD-D3B6-66D1-7BB9309E52FF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722" y="3959086"/>
                    <a:ext cx="2534565" cy="1111287"/>
                  </a:xfrm>
                  <a:prstGeom prst="rect">
                    <a:avLst/>
                  </a:prstGeom>
                  <a:solidFill>
                    <a:srgbClr val="E7E7FF"/>
                  </a:solidFill>
                  <a:ln>
                    <a:solidFill>
                      <a:schemeClr val="tx1"/>
                    </a:solidFill>
                  </a:ln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wrap="square" lIns="0" tIns="0" rIns="0" bIns="0" rtlCol="0" anchor="ctr" anchorCtr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𝝏</m:t>
                              </m:r>
                              <m:r>
                                <a:rPr lang="en-US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num>
                            <m:den>
                              <m:r>
                                <a:rPr lang="en-US" sz="3200" b="1" i="1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𝝏</m:t>
                              </m:r>
                              <m: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𝒕</m:t>
                              </m:r>
                            </m:den>
                          </m:f>
                          <m:r>
                            <a:rPr lang="pt-BR" sz="3200" b="1" i="1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3200" b="1" i="1" smtClean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𝑫</m:t>
                          </m:r>
                          <m:sSup>
                            <m:sSupPr>
                              <m:ctrlP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3200" b="1" i="0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𝛁</m:t>
                              </m:r>
                            </m:e>
                            <m:sup>
                              <m:r>
                                <a:rPr lang="pt-BR" sz="32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en-US" sz="3200" b="1" i="1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oMath>
                      </m:oMathPara>
                    </a14:m>
                    <a:endParaRPr lang="LID4096" sz="3200" b="1" i="1" dirty="0"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EEB9D3AA-61DD-D3B6-66D1-7BB9309E5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722" y="3959086"/>
                    <a:ext cx="2534565" cy="11112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42396D-445C-B152-597E-8DCA03BE4ECC}"/>
                  </a:ext>
                </a:extLst>
              </p:cNvPr>
              <p:cNvSpPr txBox="1"/>
              <p:nvPr/>
            </p:nvSpPr>
            <p:spPr>
              <a:xfrm>
                <a:off x="2063994" y="5565297"/>
                <a:ext cx="7661293" cy="616235"/>
              </a:xfrm>
              <a:prstGeom prst="rect">
                <a:avLst/>
              </a:prstGeom>
              <a:solidFill>
                <a:srgbClr val="E7E7FF"/>
              </a:solidFill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anchor="ctr" anchorCtr="0">
                <a:noAutofit/>
              </a:bodyPr>
              <a:lstStyle/>
              <a:p>
                <a:pPr algn="ctr">
                  <a:buNone/>
                </a:pPr>
                <a:r>
                  <a:rPr lang="en-US" sz="2000" b="1" dirty="0">
                    <a:solidFill>
                      <a:srgbClr val="D73A49"/>
                    </a:solidFill>
                    <a:effectLst/>
                    <a:latin typeface="Consolas" panose="020B0609020204030204" pitchFamily="49" charset="0"/>
                  </a:rPr>
                  <a:t>\</a:t>
                </a:r>
                <a:r>
                  <a:rPr lang="en-US" sz="2000" b="1" dirty="0">
                    <a:solidFill>
                      <a:srgbClr val="6F42C1"/>
                    </a:solidFill>
                    <a:effectLst/>
                    <a:latin typeface="Consolas" panose="020B0609020204030204" pitchFamily="49" charset="0"/>
                  </a:rPr>
                  <a:t>frac 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{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\partial\phi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} {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\partial 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t} = D 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\nabla</a:t>
                </a:r>
                <a:r>
                  <a:rPr lang="en-US" sz="2000" b="1" dirty="0">
                    <a:solidFill>
                      <a:srgbClr val="24292E"/>
                    </a:solidFill>
                    <a:effectLst/>
                    <a:latin typeface="Consolas" panose="020B0609020204030204" pitchFamily="49" charset="0"/>
                  </a:rPr>
                  <a:t>^</a:t>
                </a:r>
                <a:r>
                  <a:rPr lang="en-US" sz="2000" b="1" dirty="0">
                    <a:solidFill>
                      <a:srgbClr val="005CC5"/>
                    </a:solidFill>
                    <a:effectLst/>
                    <a:latin typeface="Consolas" panose="020B0609020204030204" pitchFamily="49" charset="0"/>
                  </a:rPr>
                  <a:t>2 \phi</a:t>
                </a:r>
                <a:endParaRPr lang="en-US" sz="2000" b="1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Arrow: Right 22">
                <a:extLst>
                  <a:ext uri="{FF2B5EF4-FFF2-40B4-BE49-F238E27FC236}">
                    <a16:creationId xmlns:a16="http://schemas.microsoft.com/office/drawing/2014/main" id="{441FCC32-94B3-0490-7686-8397979F3ABB}"/>
                  </a:ext>
                </a:extLst>
              </p:cNvPr>
              <p:cNvSpPr/>
              <p:nvPr/>
            </p:nvSpPr>
            <p:spPr>
              <a:xfrm rot="2162833">
                <a:off x="3966922" y="5012532"/>
                <a:ext cx="317578" cy="389449"/>
              </a:xfrm>
              <a:prstGeom prst="rightArrow">
                <a:avLst/>
              </a:prstGeom>
              <a:solidFill>
                <a:srgbClr val="0000FF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8EC1D28D-75BC-1207-5C63-1FF25EE80232}"/>
                  </a:ext>
                </a:extLst>
              </p:cNvPr>
              <p:cNvSpPr/>
              <p:nvPr/>
            </p:nvSpPr>
            <p:spPr>
              <a:xfrm rot="19808280">
                <a:off x="6816045" y="5003558"/>
                <a:ext cx="317578" cy="389449"/>
              </a:xfrm>
              <a:prstGeom prst="rightArrow">
                <a:avLst/>
              </a:prstGeom>
              <a:solidFill>
                <a:srgbClr val="0000FF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44DD562-985A-8937-8F19-F8C2BF3194D4}"/>
                </a:ext>
              </a:extLst>
            </p:cNvPr>
            <p:cNvSpPr txBox="1"/>
            <p:nvPr/>
          </p:nvSpPr>
          <p:spPr>
            <a:xfrm>
              <a:off x="2177717" y="5480799"/>
              <a:ext cx="142975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dirty="0">
                  <a:solidFill>
                    <a:srgbClr val="FF0000"/>
                  </a:solidFill>
                </a:rPr>
                <a:t>.. predição</a:t>
              </a:r>
              <a:endParaRPr 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3661CDB-ECDB-730C-CC85-4898BA726687}"/>
                </a:ext>
              </a:extLst>
            </p:cNvPr>
            <p:cNvSpPr txBox="1"/>
            <p:nvPr/>
          </p:nvSpPr>
          <p:spPr>
            <a:xfrm>
              <a:off x="7280309" y="5473318"/>
              <a:ext cx="206759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dirty="0">
                  <a:solidFill>
                    <a:srgbClr val="FF0000"/>
                  </a:solidFill>
                </a:rPr>
                <a:t>.. renderização</a:t>
              </a:r>
              <a:endParaRPr lang="en-US" sz="16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73B681C-E1F4-D5EE-DE1F-CE0DA1AF95C6}"/>
              </a:ext>
            </a:extLst>
          </p:cNvPr>
          <p:cNvSpPr txBox="1"/>
          <p:nvPr/>
        </p:nvSpPr>
        <p:spPr>
          <a:xfrm>
            <a:off x="1196975" y="3157492"/>
            <a:ext cx="8680355" cy="790791"/>
          </a:xfrm>
          <a:prstGeom prst="rect">
            <a:avLst/>
          </a:prstGeom>
          <a:solidFill>
            <a:srgbClr val="E7E7FF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 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D73A49"/>
                </a:solidFill>
                <a:latin typeface="Consolas" panose="020B0609020204030204" pitchFamily="49" charset="0"/>
              </a:rPr>
              <a:t>Path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32F62"/>
                </a:solidFill>
                <a:latin typeface="Consolas" panose="020B0609020204030204" pitchFamily="49" charset="0"/>
              </a:rPr>
              <a:t>'</a:t>
            </a:r>
            <a:r>
              <a:rPr lang="en-US" b="1" dirty="0">
                <a:solidFill>
                  <a:srgbClr val="032F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E:/REPO/01.PNG</a:t>
            </a:r>
            <a:r>
              <a:rPr lang="en-US" dirty="0">
                <a:solidFill>
                  <a:srgbClr val="032F62"/>
                </a:solidFill>
                <a:latin typeface="Consolas" panose="020B0609020204030204" pitchFamily="49" charset="0"/>
              </a:rPr>
              <a:t>'</a:t>
            </a:r>
            <a:r>
              <a:rPr lang="en-US" dirty="0">
                <a:solidFill>
                  <a:srgbClr val="24292E"/>
                </a:solidFill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LatexOCR() 				   ; </a:t>
            </a:r>
            <a:r>
              <a:rPr lang="en-US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</a:t>
            </a:r>
            <a:r>
              <a:rPr lang="en-US" b="0" dirty="0">
                <a:solidFill>
                  <a:srgbClr val="2429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78CB2D-6D0D-08E5-A49D-6EECCE90022A}"/>
              </a:ext>
            </a:extLst>
          </p:cNvPr>
          <p:cNvSpPr txBox="1"/>
          <p:nvPr/>
        </p:nvSpPr>
        <p:spPr>
          <a:xfrm>
            <a:off x="1372796" y="5902556"/>
            <a:ext cx="14297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FF0000"/>
                </a:solidFill>
              </a:rPr>
              <a:t>RES:</a:t>
            </a:r>
            <a:endParaRPr lang="en-US" sz="1600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E355AF-88EA-5E10-A105-8998572D2E9A}"/>
              </a:ext>
            </a:extLst>
          </p:cNvPr>
          <p:cNvSpPr txBox="1"/>
          <p:nvPr/>
        </p:nvSpPr>
        <p:spPr>
          <a:xfrm>
            <a:off x="4372217" y="4351343"/>
            <a:ext cx="2384084" cy="9188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 anchorCtr="0">
            <a:noAutofit/>
          </a:bodyPr>
          <a:lstStyle/>
          <a:p>
            <a:pPr/>
            <a:endParaRPr lang="LID4096" sz="32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7E7732-C692-F62D-0E41-68E22B98D00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78803" y="4437394"/>
            <a:ext cx="2269126" cy="790791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37560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E69118-26F8-B30E-9B82-B0E93B889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743" y="49581"/>
            <a:ext cx="5347902" cy="210903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302155" y="2512337"/>
            <a:ext cx="55101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none" strike="noStrike" baseline="0" dirty="0">
                <a:latin typeface="LMRoman12-Regular"/>
              </a:rPr>
              <a:t>Field Operation and Manipulation - FOAM</a:t>
            </a:r>
            <a:endParaRPr lang="LID4096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0C4A4A-5E27-8923-9BEB-9770C7183970}"/>
              </a:ext>
            </a:extLst>
          </p:cNvPr>
          <p:cNvSpPr txBox="1"/>
          <p:nvPr/>
        </p:nvSpPr>
        <p:spPr>
          <a:xfrm>
            <a:off x="8103544" y="6439087"/>
            <a:ext cx="4798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Para bom entendedor ½ palavra basta</a:t>
            </a:r>
            <a:endParaRPr lang="LID4096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4510B1-08AD-722C-2323-BF07527EC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41" y="3210079"/>
            <a:ext cx="1747602" cy="204297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2E864F-8C1A-F4C5-0CF2-AA9D524EA8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0312" y="3210079"/>
            <a:ext cx="4513187" cy="23285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123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Consolas</vt:lpstr>
      <vt:lpstr>Horley Old Style</vt:lpstr>
      <vt:lpstr>LMRoman12-Regular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25</cp:revision>
  <dcterms:created xsi:type="dcterms:W3CDTF">2026-05-20T13:22:55Z</dcterms:created>
  <dcterms:modified xsi:type="dcterms:W3CDTF">2026-06-19T09:56:24Z</dcterms:modified>
</cp:coreProperties>
</file>