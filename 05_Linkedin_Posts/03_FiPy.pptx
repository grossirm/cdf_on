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x8ZYcXopa_n87rguP4ZIxLN_9jMu6pY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1C0FB8-C6C3-6B99-0B33-771164B6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132" y="5286173"/>
            <a:ext cx="947946" cy="10715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3E814A-EE8D-B052-F9F3-8D1A1C462481}"/>
              </a:ext>
            </a:extLst>
          </p:cNvPr>
          <p:cNvSpPr txBox="1"/>
          <p:nvPr/>
        </p:nvSpPr>
        <p:spPr>
          <a:xfrm>
            <a:off x="9723945" y="5831089"/>
            <a:ext cx="884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dirty="0"/>
              <a:t>Fi</a:t>
            </a:r>
            <a:r>
              <a:rPr lang="pt-BR" sz="2800" b="1" dirty="0">
                <a:solidFill>
                  <a:srgbClr val="FF0000"/>
                </a:solidFill>
              </a:rPr>
              <a:t>Py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9AE3D-1C78-1EA9-2351-1827EAC94377}"/>
              </a:ext>
            </a:extLst>
          </p:cNvPr>
          <p:cNvSpPr txBox="1"/>
          <p:nvPr/>
        </p:nvSpPr>
        <p:spPr>
          <a:xfrm>
            <a:off x="594507" y="6092699"/>
            <a:ext cx="8377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200" dirty="0">
                <a:hlinkClick r:id="rId3"/>
              </a:rPr>
              <a:t>https://colab.research.google.com/drive/1x8ZYcXopa_n87rguP4ZIxLN_9jMu6pYK</a:t>
            </a:r>
            <a:endParaRPr lang="pt-BR" sz="1200" dirty="0"/>
          </a:p>
          <a:p>
            <a:endParaRPr lang="LID4096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7D21F0-7BB9-D24C-6EA7-0437C4DBD737}"/>
              </a:ext>
            </a:extLst>
          </p:cNvPr>
          <p:cNvGrpSpPr/>
          <p:nvPr/>
        </p:nvGrpSpPr>
        <p:grpSpPr>
          <a:xfrm>
            <a:off x="594507" y="403225"/>
            <a:ext cx="6539878" cy="4204990"/>
            <a:chOff x="266276" y="524136"/>
            <a:chExt cx="7202612" cy="45313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A674B11-6394-1E73-28C5-2AE38D09C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684"/>
            <a:stretch>
              <a:fillRect/>
            </a:stretch>
          </p:blipFill>
          <p:spPr>
            <a:xfrm>
              <a:off x="3589169" y="524136"/>
              <a:ext cx="3879719" cy="453131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CB864B-A1B6-6140-D9FB-6019AE3D5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2316"/>
            <a:stretch>
              <a:fillRect/>
            </a:stretch>
          </p:blipFill>
          <p:spPr>
            <a:xfrm>
              <a:off x="266276" y="524136"/>
              <a:ext cx="6721203" cy="453131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CFA818F-EC0B-EDE4-02C6-513635FD6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9677" b="89265"/>
            <a:stretch>
              <a:fillRect/>
            </a:stretch>
          </p:blipFill>
          <p:spPr>
            <a:xfrm>
              <a:off x="6775076" y="611375"/>
              <a:ext cx="693812" cy="5547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3303ACA-F08C-ECB7-0742-CB78B6272D25}"/>
              </a:ext>
            </a:extLst>
          </p:cNvPr>
          <p:cNvGrpSpPr>
            <a:grpSpLocks noChangeAspect="1"/>
          </p:cNvGrpSpPr>
          <p:nvPr/>
        </p:nvGrpSpPr>
        <p:grpSpPr>
          <a:xfrm>
            <a:off x="3829294" y="1753234"/>
            <a:ext cx="6056916" cy="2844236"/>
            <a:chOff x="3648175" y="2356703"/>
            <a:chExt cx="6941736" cy="347914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6F7053-F816-2D68-D47C-89B98F4F6D0B}"/>
                </a:ext>
              </a:extLst>
            </p:cNvPr>
            <p:cNvSpPr/>
            <p:nvPr/>
          </p:nvSpPr>
          <p:spPr>
            <a:xfrm>
              <a:off x="3648175" y="2356703"/>
              <a:ext cx="6941736" cy="3314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1272E2-F470-5EAF-4D19-9B5F6D36AE77}"/>
                </a:ext>
              </a:extLst>
            </p:cNvPr>
            <p:cNvSpPr txBox="1"/>
            <p:nvPr/>
          </p:nvSpPr>
          <p:spPr>
            <a:xfrm>
              <a:off x="4227964" y="2479749"/>
              <a:ext cx="6176473" cy="3275383"/>
            </a:xfrm>
            <a:prstGeom prst="rect">
              <a:avLst/>
            </a:prstGeom>
            <a:noFill/>
          </p:spPr>
          <p:txBody>
            <a:bodyPr wrap="square" rIns="0">
              <a:spAutoFit/>
            </a:bodyPr>
            <a:lstStyle/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C = (</a:t>
              </a:r>
              <a:r>
                <a:rPr lang="en-US" sz="1600" b="1" spc="-2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float</a:t>
              </a:r>
              <a:r>
                <a:rPr lang="en-US" sz="1600" b="1" spc="-2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 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*) malloc(sizeof(</a:t>
              </a:r>
              <a:r>
                <a:rPr lang="en-US" sz="1600" b="1" spc="-2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float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) * B_COLs * A_ROWs);</a:t>
              </a:r>
            </a:p>
            <a:p>
              <a:pPr>
                <a:buNone/>
              </a:pPr>
              <a:endParaRPr lang="en-US" sz="800" b="1" spc="-200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  <a:p>
              <a:pPr>
                <a:buNone/>
              </a:pPr>
              <a:r>
                <a:rPr lang="en-US" sz="1600" b="1" spc="-200" dirty="0">
                  <a:solidFill>
                    <a:srgbClr val="9723B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for</a:t>
              </a:r>
              <a:r>
                <a:rPr lang="en-US" sz="1600" b="1" spc="-2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 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(i = </a:t>
              </a:r>
              <a:r>
                <a:rPr lang="en-US" sz="1600" b="1" spc="-200" dirty="0">
                  <a:solidFill>
                    <a:srgbClr val="116644"/>
                  </a:solidFill>
                  <a:effectLst/>
                  <a:latin typeface="Courier New" panose="02070309020205020404" pitchFamily="49" charset="0"/>
                </a:rPr>
                <a:t>0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; i &lt; B_COLs; i++) {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</a:t>
              </a:r>
              <a:r>
                <a:rPr lang="en-US" sz="1600" b="1" spc="-200" dirty="0">
                  <a:solidFill>
                    <a:srgbClr val="9723B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for</a:t>
              </a:r>
              <a:r>
                <a:rPr lang="en-US" sz="1600" b="1" spc="-2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 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(j = </a:t>
              </a:r>
              <a:r>
                <a:rPr lang="en-US" sz="1600" b="1" spc="-200" dirty="0">
                  <a:solidFill>
                    <a:srgbClr val="116644"/>
                  </a:solidFill>
                  <a:effectLst/>
                  <a:latin typeface="Courier New" panose="02070309020205020404" pitchFamily="49" charset="0"/>
                </a:rPr>
                <a:t>0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; j &lt; A_ROWs; </a:t>
              </a:r>
              <a:r>
                <a:rPr lang="en-US" sz="1600" b="1" spc="-200" dirty="0" err="1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j++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) {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    C[i][j] = </a:t>
              </a:r>
              <a:r>
                <a:rPr lang="en-US" sz="1600" b="1" spc="-200" dirty="0">
                  <a:solidFill>
                    <a:srgbClr val="116644"/>
                  </a:solidFill>
                  <a:effectLst/>
                  <a:latin typeface="Courier New" panose="02070309020205020404" pitchFamily="49" charset="0"/>
                </a:rPr>
                <a:t>0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;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    </a:t>
              </a:r>
              <a:r>
                <a:rPr lang="en-US" sz="1600" b="1" spc="-200" dirty="0">
                  <a:solidFill>
                    <a:srgbClr val="9723B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for</a:t>
              </a:r>
              <a:r>
                <a:rPr lang="en-US" sz="1600" b="1" spc="-2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 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(k = </a:t>
              </a:r>
              <a:r>
                <a:rPr lang="en-US" sz="1600" b="1" spc="-200" dirty="0">
                  <a:solidFill>
                    <a:srgbClr val="116644"/>
                  </a:solidFill>
                  <a:effectLst/>
                  <a:latin typeface="Courier New" panose="02070309020205020404" pitchFamily="49" charset="0"/>
                </a:rPr>
                <a:t>0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; k &lt; A_COLs; k++) {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        </a:t>
              </a:r>
              <a:r>
                <a:rPr lang="en-US" sz="1600" b="1" spc="-200" dirty="0">
                  <a:solidFill>
                    <a:srgbClr val="FF0000"/>
                  </a:solidFill>
                  <a:effectLst/>
                  <a:latin typeface="Courier New" panose="02070309020205020404" pitchFamily="49" charset="0"/>
                </a:rPr>
                <a:t>C[i][j] += A[i][k] * B[k][j];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    }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    }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}</a:t>
              </a:r>
            </a:p>
            <a:p>
              <a:pPr>
                <a:buNone/>
              </a:pPr>
              <a:r>
                <a:rPr lang="en-US" sz="1600" b="1" spc="-2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(versus)...</a:t>
              </a:r>
              <a:r>
                <a:rPr lang="en-US" sz="1600" b="1" spc="-20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 </a:t>
              </a:r>
              <a:r>
                <a:rPr lang="en-US" sz="1600" b="1" spc="-200" dirty="0">
                  <a:solidFill>
                    <a:srgbClr val="FF0000"/>
                  </a:solidFill>
                  <a:effectLst/>
                  <a:latin typeface="Courier New" panose="02070309020205020404" pitchFamily="49" charset="0"/>
                </a:rPr>
                <a:t>C = A * B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DC93CFF-3ED5-53A9-3DCD-932064B3F265}"/>
                </a:ext>
              </a:extLst>
            </p:cNvPr>
            <p:cNvSpPr/>
            <p:nvPr/>
          </p:nvSpPr>
          <p:spPr>
            <a:xfrm>
              <a:off x="3695307" y="2394408"/>
              <a:ext cx="6840110" cy="3441443"/>
            </a:xfrm>
            <a:prstGeom prst="roundRect">
              <a:avLst>
                <a:gd name="adj" fmla="val 8812"/>
              </a:avLst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B721344-DDB1-4BF9-90F8-7EF08EF4CA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97289" y="2481183"/>
              <a:ext cx="405148" cy="405148"/>
              <a:chOff x="8767131" y="1159496"/>
              <a:chExt cx="621965" cy="621965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8633FEB-E89B-BE36-8DE8-974D6BF957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67131" y="1159496"/>
                <a:ext cx="621965" cy="6219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600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9855CF4A-C116-8FF3-AB4B-E9FD05005BD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8950974" y="1293511"/>
                <a:ext cx="365760" cy="36576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75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30</cp:revision>
  <dcterms:created xsi:type="dcterms:W3CDTF">2026-05-20T13:22:55Z</dcterms:created>
  <dcterms:modified xsi:type="dcterms:W3CDTF">2026-06-25T10:46:00Z</dcterms:modified>
</cp:coreProperties>
</file>